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5"/>
    <p:sldId id="259" r:id="rId6"/>
    <p:sldId id="264" r:id="rId7"/>
    <p:sldId id="261" r:id="rId8"/>
    <p:sldId id="263" r:id="rId9"/>
    <p:sldId id="273" r:id="rId10"/>
    <p:sldId id="274" r:id="rId11"/>
    <p:sldId id="265" r:id="rId12"/>
    <p:sldId id="276" r:id="rId13"/>
    <p:sldId id="275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/>
    <p:restoredTop sz="96824"/>
  </p:normalViewPr>
  <p:slideViewPr>
    <p:cSldViewPr snapToGrid="0" snapToObjects="1">
      <p:cViewPr>
        <p:scale>
          <a:sx n="120" d="100"/>
          <a:sy n="120" d="100"/>
        </p:scale>
        <p:origin x="1344" y="-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sz="4400" b="1">
                <a:solidFill>
                  <a:srgbClr val="FFFFFF"/>
                </a:solidFill>
              </a:rPr>
              <a:t>עבודת בית 1 – בלוקצ'יין נוסח סולנה</a:t>
            </a:r>
          </a:p>
        </p:txBody>
      </p:sp>
      <p:sp>
        <p:nvSpPr>
          <p:cNvPr id="5" name="כותרת משנה 4">
            <a:extLst>
              <a:ext uri="{FF2B5EF4-FFF2-40B4-BE49-F238E27FC236}">
                <a16:creationId xmlns:a16="http://schemas.microsoft.com/office/drawing/2014/main" id="{FB1ADA52-5A83-5D25-0CEE-26835EB9DA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ctr" defTabSz="457200" rtl="1" eaLnBrk="1" latinLnBrk="0" hangingPunct="1">
              <a:spcBef>
                <a:spcPct val="20000"/>
              </a:spcBef>
              <a:buFont typeface="Arial"/>
              <a:buNone/>
            </a:pPr>
            <a:r>
              <a:rPr lang="he-IL" sz="2400" dirty="0"/>
              <a:t>אופיר קריספל - 207455791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שקף דרישות – מה מומש ומה לא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sz="2400" dirty="0" err="1">
                <a:solidFill>
                  <a:srgbClr val="E6E6E6"/>
                </a:solidFill>
              </a:rPr>
              <a:t>מטלות</a:t>
            </a:r>
            <a:r>
              <a:rPr sz="2400" dirty="0">
                <a:solidFill>
                  <a:srgbClr val="E6E6E6"/>
                </a:solidFill>
              </a:rPr>
              <a:t> </a:t>
            </a:r>
            <a:r>
              <a:rPr sz="2400" dirty="0" err="1">
                <a:solidFill>
                  <a:srgbClr val="E6E6E6"/>
                </a:solidFill>
              </a:rPr>
              <a:t>שמומשו</a:t>
            </a:r>
            <a:r>
              <a:rPr sz="2400" dirty="0">
                <a:solidFill>
                  <a:srgbClr val="E6E6E6"/>
                </a:solidFill>
              </a:rPr>
              <a:t>:</a:t>
            </a:r>
            <a:endParaRPr lang="he-IL" sz="2400" dirty="0">
              <a:solidFill>
                <a:srgbClr val="E6E6E6"/>
              </a:solidFill>
            </a:endParaRPr>
          </a:p>
          <a:p>
            <a:pPr lvl="1" algn="r" rtl="1"/>
            <a:r>
              <a:rPr lang="en" sz="1400" dirty="0" err="1">
                <a:solidFill>
                  <a:srgbClr val="E6E6E6"/>
                </a:solidFill>
              </a:rPr>
              <a:t>BloomWrapper</a:t>
            </a:r>
            <a:r>
              <a:rPr lang="he-IL" sz="1400" dirty="0">
                <a:solidFill>
                  <a:srgbClr val="E6E6E6"/>
                </a:solidFill>
              </a:rPr>
              <a:t> – מימוש מחלקה עוטפת לספריית </a:t>
            </a:r>
            <a:r>
              <a:rPr lang="en" sz="1400" dirty="0">
                <a:solidFill>
                  <a:srgbClr val="E6E6E6"/>
                </a:solidFill>
              </a:rPr>
              <a:t>bloom-filters</a:t>
            </a:r>
            <a:r>
              <a:rPr lang="he-IL" sz="1400" dirty="0">
                <a:solidFill>
                  <a:srgbClr val="E6E6E6"/>
                </a:solidFill>
              </a:rPr>
              <a:t>.</a:t>
            </a:r>
          </a:p>
          <a:p>
            <a:pPr lvl="1" algn="r" rtl="1"/>
            <a:r>
              <a:rPr lang="en" sz="1400" dirty="0" err="1">
                <a:solidFill>
                  <a:srgbClr val="E6E6E6"/>
                </a:solidFill>
              </a:rPr>
              <a:t>MerkleWrapper</a:t>
            </a:r>
            <a:r>
              <a:rPr lang="he-IL" sz="1400" dirty="0">
                <a:solidFill>
                  <a:srgbClr val="E6E6E6"/>
                </a:solidFill>
              </a:rPr>
              <a:t> - מימוש מחלקה עוטפת לספריית </a:t>
            </a:r>
            <a:r>
              <a:rPr lang="en" sz="1400" dirty="0">
                <a:solidFill>
                  <a:srgbClr val="E6E6E6"/>
                </a:solidFill>
              </a:rPr>
              <a:t>bloom-filters</a:t>
            </a:r>
            <a:r>
              <a:rPr lang="he-IL" sz="1400" dirty="0">
                <a:solidFill>
                  <a:srgbClr val="E6E6E6"/>
                </a:solidFill>
              </a:rPr>
              <a:t>.</a:t>
            </a:r>
          </a:p>
          <a:p>
            <a:pPr lvl="1" algn="r" rtl="1"/>
            <a:r>
              <a:rPr lang="he-IL" sz="1400" dirty="0">
                <a:solidFill>
                  <a:srgbClr val="E6E6E6"/>
                </a:solidFill>
              </a:rPr>
              <a:t>בניית </a:t>
            </a:r>
            <a:r>
              <a:rPr lang="he-IL" sz="1400" dirty="0" err="1">
                <a:solidFill>
                  <a:srgbClr val="E6E6E6"/>
                </a:solidFill>
              </a:rPr>
              <a:t>בלוקצ׳יין</a:t>
            </a:r>
            <a:r>
              <a:rPr lang="he-IL" sz="1400" dirty="0">
                <a:solidFill>
                  <a:srgbClr val="E6E6E6"/>
                </a:solidFill>
              </a:rPr>
              <a:t> מלא עם בלוקים , </a:t>
            </a:r>
            <a:r>
              <a:rPr lang="en-US" sz="1400" dirty="0">
                <a:solidFill>
                  <a:srgbClr val="E6E6E6"/>
                </a:solidFill>
              </a:rPr>
              <a:t>hash</a:t>
            </a:r>
            <a:r>
              <a:rPr lang="he-IL" sz="1400" dirty="0">
                <a:solidFill>
                  <a:srgbClr val="E6E6E6"/>
                </a:solidFill>
              </a:rPr>
              <a:t> מצטבר וסיד רשת מוגדר כ42 (מוגדר ב</a:t>
            </a:r>
            <a:r>
              <a:rPr lang="en-US" sz="1400" dirty="0">
                <a:solidFill>
                  <a:srgbClr val="E6E6E6"/>
                </a:solidFill>
              </a:rPr>
              <a:t>main</a:t>
            </a:r>
            <a:r>
              <a:rPr lang="he-IL" sz="1400" dirty="0">
                <a:solidFill>
                  <a:srgbClr val="E6E6E6"/>
                </a:solidFill>
              </a:rPr>
              <a:t>).</a:t>
            </a:r>
            <a:endParaRPr sz="1400" dirty="0">
              <a:solidFill>
                <a:srgbClr val="E6E6E6"/>
              </a:solidFill>
            </a:endParaRPr>
          </a:p>
          <a:p>
            <a:pPr lvl="1" algn="r" rtl="1"/>
            <a:r>
              <a:rPr lang="en" sz="1400" dirty="0" err="1">
                <a:solidFill>
                  <a:srgbClr val="E6E6E6"/>
                </a:solidFill>
              </a:rPr>
              <a:t>minerScheduler</a:t>
            </a:r>
            <a:r>
              <a:rPr lang="he-IL" sz="1400" dirty="0">
                <a:solidFill>
                  <a:srgbClr val="E6E6E6"/>
                </a:solidFill>
              </a:rPr>
              <a:t> - </a:t>
            </a:r>
            <a:r>
              <a:rPr sz="1400" dirty="0" err="1">
                <a:solidFill>
                  <a:srgbClr val="E6E6E6"/>
                </a:solidFill>
              </a:rPr>
              <a:t>כרייה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ציקלית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בסגנון</a:t>
            </a:r>
            <a:r>
              <a:rPr sz="1400" dirty="0">
                <a:solidFill>
                  <a:srgbClr val="E6E6E6"/>
                </a:solidFill>
              </a:rPr>
              <a:t> Solana </a:t>
            </a:r>
            <a:r>
              <a:rPr sz="1400" dirty="0" err="1">
                <a:solidFill>
                  <a:srgbClr val="E6E6E6"/>
                </a:solidFill>
              </a:rPr>
              <a:t>כורים</a:t>
            </a:r>
            <a:r>
              <a:rPr sz="1400" dirty="0">
                <a:solidFill>
                  <a:srgbClr val="E6E6E6"/>
                </a:solidFill>
              </a:rPr>
              <a:t> A–E </a:t>
            </a:r>
            <a:r>
              <a:rPr sz="1400" dirty="0" err="1">
                <a:solidFill>
                  <a:srgbClr val="E6E6E6"/>
                </a:solidFill>
              </a:rPr>
              <a:t>לפי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סדר</a:t>
            </a:r>
            <a:r>
              <a:rPr lang="he-IL" sz="1400" dirty="0">
                <a:solidFill>
                  <a:srgbClr val="E6E6E6"/>
                </a:solidFill>
              </a:rPr>
              <a:t> (מוגדר ב</a:t>
            </a:r>
            <a:r>
              <a:rPr lang="en-US" sz="1400" dirty="0">
                <a:solidFill>
                  <a:srgbClr val="E6E6E6"/>
                </a:solidFill>
              </a:rPr>
              <a:t>main</a:t>
            </a:r>
            <a:r>
              <a:rPr lang="he-IL" sz="1400" dirty="0">
                <a:solidFill>
                  <a:srgbClr val="E6E6E6"/>
                </a:solidFill>
              </a:rPr>
              <a:t>).</a:t>
            </a:r>
          </a:p>
          <a:p>
            <a:pPr lvl="1" algn="r" rtl="1"/>
            <a:r>
              <a:rPr lang="en" sz="1400" dirty="0">
                <a:solidFill>
                  <a:srgbClr val="E6E6E6"/>
                </a:solidFill>
              </a:rPr>
              <a:t>ledger </a:t>
            </a:r>
            <a:r>
              <a:rPr lang="he-IL" sz="1400" dirty="0">
                <a:solidFill>
                  <a:srgbClr val="E6E6E6"/>
                </a:solidFill>
              </a:rPr>
              <a:t> המכיל ומשתמש ב</a:t>
            </a:r>
            <a:r>
              <a:rPr lang="en" sz="1400" dirty="0">
                <a:solidFill>
                  <a:srgbClr val="E6E6E6"/>
                </a:solidFill>
              </a:rPr>
              <a:t> </a:t>
            </a:r>
            <a:r>
              <a:rPr lang="en" sz="1400" dirty="0" err="1">
                <a:solidFill>
                  <a:srgbClr val="E6E6E6"/>
                </a:solidFill>
              </a:rPr>
              <a:t>transactionProcessor</a:t>
            </a:r>
            <a:r>
              <a:rPr lang="he-IL" sz="1400" dirty="0">
                <a:solidFill>
                  <a:srgbClr val="E6E6E6"/>
                </a:solidFill>
              </a:rPr>
              <a:t>למעקב וגביית </a:t>
            </a:r>
            <a:r>
              <a:rPr sz="1400" dirty="0" err="1">
                <a:solidFill>
                  <a:srgbClr val="E6E6E6"/>
                </a:solidFill>
              </a:rPr>
              <a:t>עמלות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ב</a:t>
            </a:r>
            <a:r>
              <a:rPr lang="he-IL" sz="1400" dirty="0">
                <a:solidFill>
                  <a:srgbClr val="E6E6E6"/>
                </a:solidFill>
              </a:rPr>
              <a:t>סיס ועמלות טיפ,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שריפת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עמלות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ותגמולי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כורה</a:t>
            </a:r>
            <a:r>
              <a:rPr lang="he-IL" sz="1400" dirty="0">
                <a:solidFill>
                  <a:srgbClr val="E6E6E6"/>
                </a:solidFill>
              </a:rPr>
              <a:t>.</a:t>
            </a:r>
          </a:p>
          <a:p>
            <a:pPr lvl="1" algn="r" rtl="1"/>
            <a:r>
              <a:rPr sz="1400" dirty="0" err="1">
                <a:solidFill>
                  <a:srgbClr val="E6E6E6"/>
                </a:solidFill>
              </a:rPr>
              <a:t>יצירת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טרנזקציות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חתומות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עם</a:t>
            </a:r>
            <a:r>
              <a:rPr sz="1400" dirty="0">
                <a:solidFill>
                  <a:srgbClr val="E6E6E6"/>
                </a:solidFill>
              </a:rPr>
              <a:t> ECDSA secp256k1 </a:t>
            </a:r>
            <a:r>
              <a:rPr sz="1400" dirty="0" err="1">
                <a:solidFill>
                  <a:srgbClr val="E6E6E6"/>
                </a:solidFill>
              </a:rPr>
              <a:t>ואימות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חתימה</a:t>
            </a:r>
            <a:r>
              <a:rPr lang="he-IL" sz="1400" dirty="0">
                <a:solidFill>
                  <a:srgbClr val="E6E6E6"/>
                </a:solidFill>
              </a:rPr>
              <a:t>.</a:t>
            </a:r>
          </a:p>
          <a:p>
            <a:pPr lvl="1" algn="r" rtl="1"/>
            <a:r>
              <a:rPr sz="1400" dirty="0" err="1">
                <a:solidFill>
                  <a:srgbClr val="E6E6E6"/>
                </a:solidFill>
              </a:rPr>
              <a:t>הדגמת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חיפוש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והוכחת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קיום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טרנ</a:t>
            </a:r>
            <a:r>
              <a:rPr lang="he-IL" sz="1400" dirty="0">
                <a:solidFill>
                  <a:srgbClr val="E6E6E6"/>
                </a:solidFill>
              </a:rPr>
              <a:t>זק</a:t>
            </a:r>
            <a:r>
              <a:rPr sz="1400" dirty="0" err="1">
                <a:solidFill>
                  <a:srgbClr val="E6E6E6"/>
                </a:solidFill>
              </a:rPr>
              <a:t>ציה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דרך</a:t>
            </a:r>
            <a:r>
              <a:rPr lang="he-IL" sz="1400" dirty="0">
                <a:solidFill>
                  <a:srgbClr val="E6E6E6"/>
                </a:solidFill>
              </a:rPr>
              <a:t> </a:t>
            </a:r>
            <a:r>
              <a:rPr sz="1400" dirty="0">
                <a:solidFill>
                  <a:srgbClr val="E6E6E6"/>
                </a:solidFill>
              </a:rPr>
              <a:t>Bloom + Merk</a:t>
            </a:r>
            <a:r>
              <a:rPr lang="en" sz="1400" dirty="0">
                <a:solidFill>
                  <a:srgbClr val="E6E6E6"/>
                </a:solidFill>
              </a:rPr>
              <a:t>l</a:t>
            </a:r>
            <a:r>
              <a:rPr lang="he-IL" sz="1400" dirty="0">
                <a:solidFill>
                  <a:srgbClr val="E6E6E6"/>
                </a:solidFill>
              </a:rPr>
              <a:t>.</a:t>
            </a:r>
            <a:endParaRPr sz="1400" dirty="0">
              <a:solidFill>
                <a:srgbClr val="E6E6E6"/>
              </a:solidFill>
            </a:endParaRPr>
          </a:p>
          <a:p>
            <a:pPr algn="r" rtl="1"/>
            <a:endParaRPr sz="2400" dirty="0">
              <a:solidFill>
                <a:srgbClr val="E6E6E6"/>
              </a:solidFill>
            </a:endParaRPr>
          </a:p>
          <a:p>
            <a:pPr algn="r" rtl="1"/>
            <a:r>
              <a:rPr sz="2400" dirty="0">
                <a:solidFill>
                  <a:srgbClr val="E6E6E6"/>
                </a:solidFill>
              </a:rPr>
              <a:t>Known Bugs:</a:t>
            </a:r>
            <a:endParaRPr lang="he-IL" sz="2400" dirty="0">
              <a:solidFill>
                <a:srgbClr val="E6E6E6"/>
              </a:solidFill>
            </a:endParaRPr>
          </a:p>
          <a:p>
            <a:pPr lvl="1" algn="r" rtl="1"/>
            <a:r>
              <a:rPr sz="1400" dirty="0" err="1">
                <a:solidFill>
                  <a:srgbClr val="E6E6E6"/>
                </a:solidFill>
              </a:rPr>
              <a:t>לא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ידועים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באגים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לוגיים</a:t>
            </a:r>
            <a:r>
              <a:rPr sz="1400" dirty="0">
                <a:solidFill>
                  <a:srgbClr val="E6E6E6"/>
                </a:solidFill>
              </a:rPr>
              <a:t> – </a:t>
            </a:r>
            <a:r>
              <a:rPr sz="1400" dirty="0" err="1">
                <a:solidFill>
                  <a:srgbClr val="E6E6E6"/>
                </a:solidFill>
              </a:rPr>
              <a:t>הרצה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מלאה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על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קובץ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Solanatransactions.json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נותנת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שרשרת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תקפה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וסטטיסטיקות</a:t>
            </a:r>
            <a:r>
              <a:rPr sz="1400" dirty="0">
                <a:solidFill>
                  <a:srgbClr val="E6E6E6"/>
                </a:solidFill>
              </a:rPr>
              <a:t> </a:t>
            </a:r>
            <a:r>
              <a:rPr sz="1400" dirty="0" err="1">
                <a:solidFill>
                  <a:srgbClr val="E6E6E6"/>
                </a:solidFill>
              </a:rPr>
              <a:t>עקביות</a:t>
            </a:r>
            <a:endParaRPr lang="he-IL" sz="1400" dirty="0">
              <a:solidFill>
                <a:srgbClr val="E6E6E6"/>
              </a:solidFill>
            </a:endParaRPr>
          </a:p>
          <a:p>
            <a:pPr lvl="1" algn="r" rtl="1"/>
            <a:endParaRPr lang="he-IL" sz="1400" dirty="0">
              <a:solidFill>
                <a:srgbClr val="E6E6E6"/>
              </a:solidFill>
            </a:endParaRPr>
          </a:p>
          <a:p>
            <a:pPr algn="r" rtl="1"/>
            <a:r>
              <a:rPr lang="he-IL" sz="2400" dirty="0">
                <a:solidFill>
                  <a:srgbClr val="E6E6E6"/>
                </a:solidFill>
              </a:rPr>
              <a:t>דרישות שלא מומשו:</a:t>
            </a:r>
          </a:p>
          <a:p>
            <a:pPr lvl="1" algn="r" rtl="1"/>
            <a:r>
              <a:rPr lang="en" sz="1400" dirty="0" err="1">
                <a:solidFill>
                  <a:srgbClr val="E6E6E6"/>
                </a:solidFill>
              </a:rPr>
              <a:t>Segwit</a:t>
            </a:r>
            <a:r>
              <a:rPr lang="he-IL" sz="1400" dirty="0">
                <a:solidFill>
                  <a:srgbClr val="E6E6E6"/>
                </a:solidFill>
              </a:rPr>
              <a:t> לא מומש לפי הנחיית המרצה (הוחלט שאינו חובה בעבודה זו).</a:t>
            </a:r>
            <a:endParaRPr sz="1400" dirty="0">
              <a:solidFill>
                <a:srgbClr val="E6E6E6"/>
              </a:solidFill>
            </a:endParaRPr>
          </a:p>
          <a:p>
            <a:pPr algn="r" rtl="1"/>
            <a:endParaRPr sz="2400" dirty="0">
              <a:solidFill>
                <a:srgbClr val="E6E6E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 err="1">
                <a:solidFill>
                  <a:srgbClr val="FFFFFF"/>
                </a:solidFill>
              </a:rPr>
              <a:t>הוראות</a:t>
            </a:r>
            <a:r>
              <a:rPr sz="4000" b="1" dirty="0">
                <a:solidFill>
                  <a:srgbClr val="FFFFFF"/>
                </a:solidFill>
              </a:rPr>
              <a:t> </a:t>
            </a:r>
            <a:r>
              <a:rPr sz="4000" b="1" dirty="0" err="1">
                <a:solidFill>
                  <a:srgbClr val="FFFFFF"/>
                </a:solidFill>
              </a:rPr>
              <a:t>התקנה</a:t>
            </a:r>
            <a:r>
              <a:rPr sz="4000" b="1" dirty="0">
                <a:solidFill>
                  <a:srgbClr val="FFFFFF"/>
                </a:solidFill>
              </a:rPr>
              <a:t> </a:t>
            </a:r>
            <a:r>
              <a:rPr sz="4000" b="1" dirty="0" err="1">
                <a:solidFill>
                  <a:srgbClr val="FFFFFF"/>
                </a:solidFill>
              </a:rPr>
              <a:t>והרצה</a:t>
            </a:r>
            <a:endParaRPr sz="4000" b="1" dirty="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0F4927-A5C8-1F85-4A94-768207A38D11}"/>
              </a:ext>
            </a:extLst>
          </p:cNvPr>
          <p:cNvSpPr txBox="1">
            <a:spLocks/>
          </p:cNvSpPr>
          <p:nvPr/>
        </p:nvSpPr>
        <p:spPr>
          <a:xfrm>
            <a:off x="457200" y="14261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sz="2000" dirty="0">
                <a:solidFill>
                  <a:srgbClr val="E6E6E6"/>
                </a:solidFill>
              </a:rPr>
              <a:t>דרישות מוקדמות:</a:t>
            </a:r>
          </a:p>
          <a:p>
            <a:pPr lvl="1" algn="r" rtl="1"/>
            <a:r>
              <a:rPr lang="en-US" sz="1600" dirty="0">
                <a:solidFill>
                  <a:srgbClr val="E6E6E6"/>
                </a:solidFill>
              </a:rPr>
              <a:t>Node.js</a:t>
            </a:r>
            <a:r>
              <a:rPr lang="he-IL" sz="1600" dirty="0">
                <a:solidFill>
                  <a:srgbClr val="E6E6E6"/>
                </a:solidFill>
              </a:rPr>
              <a:t> גרסה 18 ומעלה</a:t>
            </a:r>
          </a:p>
          <a:p>
            <a:pPr lvl="1" algn="r" rtl="1"/>
            <a:r>
              <a:rPr lang="en-US" sz="1600" dirty="0" err="1">
                <a:solidFill>
                  <a:srgbClr val="E6E6E6"/>
                </a:solidFill>
              </a:rPr>
              <a:t>Npm</a:t>
            </a:r>
            <a:endParaRPr lang="he-IL" sz="1600" dirty="0">
              <a:solidFill>
                <a:srgbClr val="E6E6E6"/>
              </a:solidFill>
            </a:endParaRPr>
          </a:p>
          <a:p>
            <a:pPr algn="r" rtl="1"/>
            <a:r>
              <a:rPr lang="he-IL" sz="2000" dirty="0">
                <a:solidFill>
                  <a:srgbClr val="E6E6E6"/>
                </a:solidFill>
              </a:rPr>
              <a:t>שלבי התקנה:</a:t>
            </a:r>
          </a:p>
          <a:p>
            <a:pPr lvl="1" algn="r" rtl="1"/>
            <a:r>
              <a:rPr lang="he-IL" sz="1600" dirty="0">
                <a:solidFill>
                  <a:srgbClr val="E6E6E6"/>
                </a:solidFill>
              </a:rPr>
              <a:t>הורדת התיקייה </a:t>
            </a:r>
            <a:r>
              <a:rPr lang="en" sz="1600" dirty="0" err="1">
                <a:solidFill>
                  <a:srgbClr val="E6E6E6"/>
                </a:solidFill>
              </a:rPr>
              <a:t>basicsolanablockchain</a:t>
            </a:r>
            <a:r>
              <a:rPr lang="he-IL" sz="1600" dirty="0">
                <a:solidFill>
                  <a:srgbClr val="E6E6E6"/>
                </a:solidFill>
              </a:rPr>
              <a:t>, כולל כל קבצי ה</a:t>
            </a:r>
            <a:r>
              <a:rPr lang="en-US" sz="1600" dirty="0" err="1">
                <a:solidFill>
                  <a:srgbClr val="E6E6E6"/>
                </a:solidFill>
              </a:rPr>
              <a:t>js</a:t>
            </a:r>
            <a:r>
              <a:rPr lang="he-IL" sz="1600" dirty="0">
                <a:solidFill>
                  <a:srgbClr val="E6E6E6"/>
                </a:solidFill>
              </a:rPr>
              <a:t> </a:t>
            </a:r>
            <a:r>
              <a:rPr lang="he-IL" sz="1600" dirty="0" err="1">
                <a:solidFill>
                  <a:srgbClr val="E6E6E6"/>
                </a:solidFill>
              </a:rPr>
              <a:t>וה</a:t>
            </a:r>
            <a:r>
              <a:rPr lang="en-US" sz="1600" dirty="0" err="1">
                <a:solidFill>
                  <a:srgbClr val="E6E6E6"/>
                </a:solidFill>
              </a:rPr>
              <a:t>jso</a:t>
            </a:r>
            <a:r>
              <a:rPr lang="he-IL" sz="1600" dirty="0">
                <a:solidFill>
                  <a:srgbClr val="E6E6E6"/>
                </a:solidFill>
              </a:rPr>
              <a:t>.</a:t>
            </a:r>
          </a:p>
          <a:p>
            <a:pPr lvl="1" algn="r" rtl="1"/>
            <a:r>
              <a:rPr lang="he-IL" sz="1600" dirty="0">
                <a:solidFill>
                  <a:srgbClr val="E6E6E6"/>
                </a:solidFill>
              </a:rPr>
              <a:t>הרץ בתיקייה הראשית </a:t>
            </a:r>
            <a:r>
              <a:rPr lang="en" sz="1600" dirty="0" err="1">
                <a:solidFill>
                  <a:srgbClr val="E6E6E6"/>
                </a:solidFill>
              </a:rPr>
              <a:t>npm</a:t>
            </a:r>
            <a:r>
              <a:rPr lang="en" sz="1600" dirty="0">
                <a:solidFill>
                  <a:srgbClr val="E6E6E6"/>
                </a:solidFill>
              </a:rPr>
              <a:t> install</a:t>
            </a:r>
            <a:r>
              <a:rPr lang="he-IL" sz="1600" dirty="0">
                <a:solidFill>
                  <a:srgbClr val="E6E6E6"/>
                </a:solidFill>
              </a:rPr>
              <a:t> (יותקנו הספריות </a:t>
            </a:r>
            <a:r>
              <a:rPr lang="en" sz="1600" dirty="0">
                <a:solidFill>
                  <a:srgbClr val="E6E6E6"/>
                </a:solidFill>
              </a:rPr>
              <a:t>crypto-</a:t>
            </a:r>
            <a:r>
              <a:rPr lang="en" sz="1600" dirty="0" err="1">
                <a:solidFill>
                  <a:srgbClr val="E6E6E6"/>
                </a:solidFill>
              </a:rPr>
              <a:t>js</a:t>
            </a:r>
            <a:r>
              <a:rPr lang="en" sz="1600" dirty="0">
                <a:solidFill>
                  <a:srgbClr val="E6E6E6"/>
                </a:solidFill>
              </a:rPr>
              <a:t>, elliptic, </a:t>
            </a:r>
            <a:r>
              <a:rPr lang="en" sz="1600" dirty="0" err="1">
                <a:solidFill>
                  <a:srgbClr val="E6E6E6"/>
                </a:solidFill>
              </a:rPr>
              <a:t>merkletreejs</a:t>
            </a:r>
            <a:r>
              <a:rPr lang="en" sz="1600" dirty="0">
                <a:solidFill>
                  <a:srgbClr val="E6E6E6"/>
                </a:solidFill>
              </a:rPr>
              <a:t>, bloom-filters </a:t>
            </a:r>
            <a:r>
              <a:rPr lang="he-IL" sz="1600" dirty="0">
                <a:solidFill>
                  <a:srgbClr val="E6E6E6"/>
                </a:solidFill>
              </a:rPr>
              <a:t> ועוד).</a:t>
            </a:r>
          </a:p>
          <a:p>
            <a:pPr algn="r" rtl="1"/>
            <a:r>
              <a:rPr lang="he-IL" sz="2000" dirty="0">
                <a:solidFill>
                  <a:srgbClr val="E6E6E6"/>
                </a:solidFill>
              </a:rPr>
              <a:t>הרצה:</a:t>
            </a:r>
          </a:p>
          <a:p>
            <a:pPr lvl="1" algn="r" rtl="1"/>
            <a:r>
              <a:rPr lang="he-IL" sz="1600" dirty="0">
                <a:solidFill>
                  <a:srgbClr val="E6E6E6"/>
                </a:solidFill>
              </a:rPr>
              <a:t>בתיקייה הראשית יש להריץ </a:t>
            </a:r>
            <a:r>
              <a:rPr lang="en-US" sz="1600" dirty="0">
                <a:solidFill>
                  <a:srgbClr val="E6E6E6"/>
                </a:solidFill>
              </a:rPr>
              <a:t>node </a:t>
            </a:r>
            <a:r>
              <a:rPr lang="en-US" sz="1600" dirty="0" err="1">
                <a:solidFill>
                  <a:srgbClr val="E6E6E6"/>
                </a:solidFill>
              </a:rPr>
              <a:t>main.js</a:t>
            </a:r>
            <a:r>
              <a:rPr lang="he-IL" sz="1600" dirty="0">
                <a:solidFill>
                  <a:srgbClr val="E6E6E6"/>
                </a:solidFill>
              </a:rPr>
              <a:t>.</a:t>
            </a:r>
          </a:p>
          <a:p>
            <a:pPr algn="r" rtl="1"/>
            <a:r>
              <a:rPr lang="he-IL" sz="2000" dirty="0">
                <a:solidFill>
                  <a:srgbClr val="E6E6E6"/>
                </a:solidFill>
              </a:rPr>
              <a:t>פלט:</a:t>
            </a:r>
            <a:endParaRPr lang="en-US" sz="2000" dirty="0">
              <a:solidFill>
                <a:srgbClr val="E6E6E6"/>
              </a:solidFill>
            </a:endParaRPr>
          </a:p>
          <a:p>
            <a:pPr lvl="1" algn="r" rtl="1"/>
            <a:r>
              <a:rPr lang="he-IL" sz="1600" dirty="0">
                <a:solidFill>
                  <a:srgbClr val="E6E6E6"/>
                </a:solidFill>
              </a:rPr>
              <a:t>טעינת </a:t>
            </a:r>
            <a:r>
              <a:rPr lang="he-IL" sz="1600" dirty="0" err="1">
                <a:solidFill>
                  <a:srgbClr val="E6E6E6"/>
                </a:solidFill>
              </a:rPr>
              <a:t>הטרנזקציות</a:t>
            </a:r>
            <a:r>
              <a:rPr lang="he-IL" sz="1600" dirty="0">
                <a:solidFill>
                  <a:srgbClr val="E6E6E6"/>
                </a:solidFill>
              </a:rPr>
              <a:t> מהקובץ </a:t>
            </a:r>
            <a:r>
              <a:rPr lang="en" sz="1600" dirty="0" err="1">
                <a:solidFill>
                  <a:srgbClr val="E6E6E6"/>
                </a:solidFill>
              </a:rPr>
              <a:t>Solanatransactions.json</a:t>
            </a:r>
            <a:r>
              <a:rPr lang="he-IL" sz="1600" dirty="0">
                <a:solidFill>
                  <a:srgbClr val="E6E6E6"/>
                </a:solidFill>
              </a:rPr>
              <a:t> (לוג של כמה </a:t>
            </a:r>
            <a:r>
              <a:rPr lang="he-IL" sz="1600" dirty="0" err="1">
                <a:solidFill>
                  <a:srgbClr val="E6E6E6"/>
                </a:solidFill>
              </a:rPr>
              <a:t>טרנזקציות</a:t>
            </a:r>
            <a:r>
              <a:rPr lang="he-IL" sz="1600" dirty="0">
                <a:solidFill>
                  <a:srgbClr val="E6E6E6"/>
                </a:solidFill>
              </a:rPr>
              <a:t> נוצרו).</a:t>
            </a:r>
          </a:p>
          <a:p>
            <a:pPr lvl="1" algn="r" rtl="1"/>
            <a:r>
              <a:rPr lang="he-IL" sz="1600" dirty="0">
                <a:solidFill>
                  <a:srgbClr val="E6E6E6"/>
                </a:solidFill>
              </a:rPr>
              <a:t>בניית הבלוקים לפי הכורים </a:t>
            </a:r>
            <a:r>
              <a:rPr lang="en" sz="1600" dirty="0">
                <a:solidFill>
                  <a:srgbClr val="E6E6E6"/>
                </a:solidFill>
              </a:rPr>
              <a:t>A–E</a:t>
            </a:r>
            <a:r>
              <a:rPr lang="he-IL" sz="1600" dirty="0">
                <a:solidFill>
                  <a:srgbClr val="E6E6E6"/>
                </a:solidFill>
              </a:rPr>
              <a:t> בצורה </a:t>
            </a:r>
            <a:r>
              <a:rPr lang="he-IL" sz="1600" dirty="0" err="1">
                <a:solidFill>
                  <a:srgbClr val="E6E6E6"/>
                </a:solidFill>
              </a:rPr>
              <a:t>ציקלית</a:t>
            </a:r>
            <a:r>
              <a:rPr lang="he-IL" sz="1600" dirty="0">
                <a:solidFill>
                  <a:srgbClr val="E6E6E6"/>
                </a:solidFill>
              </a:rPr>
              <a:t>, תוך דילוג על </a:t>
            </a:r>
            <a:r>
              <a:rPr lang="he-IL" sz="1600" dirty="0" err="1">
                <a:solidFill>
                  <a:srgbClr val="E6E6E6"/>
                </a:solidFill>
              </a:rPr>
              <a:t>טרנזקציות</a:t>
            </a:r>
            <a:r>
              <a:rPr lang="he-IL" sz="1600" dirty="0">
                <a:solidFill>
                  <a:srgbClr val="E6E6E6"/>
                </a:solidFill>
              </a:rPr>
              <a:t> לא חוקיות וכתיבה שלה כמה </a:t>
            </a:r>
            <a:r>
              <a:rPr lang="he-IL" sz="1600" dirty="0" err="1">
                <a:solidFill>
                  <a:srgbClr val="E6E6E6"/>
                </a:solidFill>
              </a:rPr>
              <a:t>טרנזקציות</a:t>
            </a:r>
            <a:r>
              <a:rPr lang="he-IL" sz="1600" dirty="0">
                <a:solidFill>
                  <a:srgbClr val="E6E6E6"/>
                </a:solidFill>
              </a:rPr>
              <a:t> דולגו ואיזה. סך </a:t>
            </a:r>
            <a:r>
              <a:rPr lang="he-IL" sz="1600" dirty="0" err="1">
                <a:solidFill>
                  <a:srgbClr val="E6E6E6"/>
                </a:solidFill>
              </a:rPr>
              <a:t>הכל</a:t>
            </a:r>
            <a:r>
              <a:rPr lang="he-IL" sz="1600" dirty="0">
                <a:solidFill>
                  <a:srgbClr val="E6E6E6"/>
                </a:solidFill>
              </a:rPr>
              <a:t> יהיה בבלוק 50 </a:t>
            </a:r>
            <a:r>
              <a:rPr lang="he-IL" sz="1600" dirty="0" err="1">
                <a:solidFill>
                  <a:srgbClr val="E6E6E6"/>
                </a:solidFill>
              </a:rPr>
              <a:t>טרנזקציות</a:t>
            </a:r>
            <a:r>
              <a:rPr lang="he-IL" sz="1600" dirty="0">
                <a:solidFill>
                  <a:srgbClr val="E6E6E6"/>
                </a:solidFill>
              </a:rPr>
              <a:t> כולל </a:t>
            </a:r>
            <a:r>
              <a:rPr lang="en-US" sz="1600" dirty="0" err="1">
                <a:solidFill>
                  <a:srgbClr val="E6E6E6"/>
                </a:solidFill>
              </a:rPr>
              <a:t>coinbase</a:t>
            </a:r>
            <a:r>
              <a:rPr lang="he-IL" sz="1600" dirty="0">
                <a:solidFill>
                  <a:srgbClr val="E6E6E6"/>
                </a:solidFill>
              </a:rPr>
              <a:t> אלא אם לא היו עוד </a:t>
            </a:r>
            <a:r>
              <a:rPr lang="he-IL" sz="1600" dirty="0" err="1">
                <a:solidFill>
                  <a:srgbClr val="E6E6E6"/>
                </a:solidFill>
              </a:rPr>
              <a:t>טרנזקיות</a:t>
            </a:r>
            <a:r>
              <a:rPr lang="he-IL" sz="1600" dirty="0">
                <a:solidFill>
                  <a:srgbClr val="E6E6E6"/>
                </a:solidFill>
              </a:rPr>
              <a:t> במאגר.</a:t>
            </a:r>
          </a:p>
          <a:p>
            <a:pPr lvl="1" algn="r" rtl="1"/>
            <a:r>
              <a:rPr lang="he-IL" sz="1600" dirty="0">
                <a:solidFill>
                  <a:srgbClr val="E6E6E6"/>
                </a:solidFill>
              </a:rPr>
              <a:t>הדפסת יתרות סופיות לכל ארנק</a:t>
            </a:r>
            <a:r>
              <a:rPr lang="en" sz="1600" dirty="0">
                <a:solidFill>
                  <a:srgbClr val="E6E6E6"/>
                </a:solidFill>
              </a:rPr>
              <a:t>A–J </a:t>
            </a:r>
            <a:r>
              <a:rPr lang="he-IL" sz="1600" dirty="0">
                <a:solidFill>
                  <a:srgbClr val="E6E6E6"/>
                </a:solidFill>
              </a:rPr>
              <a:t> וסטטיסטיקות על כל הרשת כמה מטבעות נשרפו, נכרו, סה"כ כמות המטבעות ברשת.</a:t>
            </a:r>
          </a:p>
          <a:p>
            <a:pPr lvl="1" algn="r" rtl="1"/>
            <a:r>
              <a:rPr lang="he-IL" sz="1600" dirty="0">
                <a:solidFill>
                  <a:srgbClr val="E6E6E6"/>
                </a:solidFill>
              </a:rPr>
              <a:t>הדגמת מציאת הוכחת </a:t>
            </a:r>
            <a:r>
              <a:rPr lang="en" sz="1600" dirty="0">
                <a:solidFill>
                  <a:srgbClr val="E6E6E6"/>
                </a:solidFill>
              </a:rPr>
              <a:t>Merkle </a:t>
            </a:r>
            <a:r>
              <a:rPr lang="he-IL" sz="1600" dirty="0">
                <a:solidFill>
                  <a:srgbClr val="E6E6E6"/>
                </a:solidFill>
              </a:rPr>
              <a:t> </a:t>
            </a:r>
            <a:r>
              <a:rPr lang="he-IL" sz="1600" dirty="0" err="1">
                <a:solidFill>
                  <a:srgbClr val="E6E6E6"/>
                </a:solidFill>
              </a:rPr>
              <a:t>לטרנזקציה</a:t>
            </a:r>
            <a:r>
              <a:rPr lang="he-IL" sz="1600" dirty="0">
                <a:solidFill>
                  <a:srgbClr val="E6E6E6"/>
                </a:solidFill>
              </a:rPr>
              <a:t> רנדומלית באמצעות </a:t>
            </a:r>
            <a:r>
              <a:rPr lang="en" sz="1600" dirty="0">
                <a:solidFill>
                  <a:srgbClr val="E6E6E6"/>
                </a:solidFill>
              </a:rPr>
              <a:t>Bloom + Merkl</a:t>
            </a:r>
            <a:r>
              <a:rPr lang="he-IL" sz="1600" dirty="0">
                <a:solidFill>
                  <a:srgbClr val="E6E6E6"/>
                </a:solidFill>
              </a:rPr>
              <a:t> בכל בלוק.</a:t>
            </a:r>
          </a:p>
          <a:p>
            <a:pPr lvl="1" algn="r" rtl="1"/>
            <a:r>
              <a:rPr lang="he-IL" sz="1600" dirty="0">
                <a:solidFill>
                  <a:srgbClr val="E6E6E6"/>
                </a:solidFill>
              </a:rPr>
              <a:t>בדיקת תקינות השרשרת </a:t>
            </a:r>
            <a:r>
              <a:rPr lang="en" sz="1600" dirty="0" err="1">
                <a:solidFill>
                  <a:srgbClr val="E6E6E6"/>
                </a:solidFill>
              </a:rPr>
              <a:t>isValid</a:t>
            </a:r>
            <a:r>
              <a:rPr lang="en" sz="1600" dirty="0">
                <a:solidFill>
                  <a:srgbClr val="E6E6E6"/>
                </a:solidFill>
              </a:rPr>
              <a:t>() </a:t>
            </a:r>
            <a:r>
              <a:rPr lang="he-IL" sz="1600" dirty="0">
                <a:solidFill>
                  <a:srgbClr val="E6E6E6"/>
                </a:solidFill>
              </a:rPr>
              <a:t> עם הדפסת </a:t>
            </a:r>
            <a:r>
              <a:rPr lang="en" sz="1600" dirty="0">
                <a:solidFill>
                  <a:srgbClr val="E6E6E6"/>
                </a:solidFill>
              </a:rPr>
              <a:t>Is chain valid? true/false</a:t>
            </a:r>
            <a:r>
              <a:rPr lang="he-IL" sz="1600" dirty="0">
                <a:solidFill>
                  <a:srgbClr val="E6E6E6"/>
                </a:solidFill>
              </a:rPr>
              <a:t>.</a:t>
            </a:r>
            <a:endParaRPr lang="en" sz="1600" dirty="0">
              <a:solidFill>
                <a:srgbClr val="E6E6E6"/>
              </a:solidFill>
            </a:endParaRPr>
          </a:p>
          <a:p>
            <a:pPr lvl="1" algn="r" rtl="1"/>
            <a:endParaRPr lang="he-IL" sz="1600" dirty="0">
              <a:solidFill>
                <a:srgbClr val="E6E6E6"/>
              </a:solidFill>
            </a:endParaRPr>
          </a:p>
          <a:p>
            <a:pPr lvl="1" algn="r" rtl="1"/>
            <a:endParaRPr lang="he-IL" sz="1600" dirty="0">
              <a:solidFill>
                <a:srgbClr val="E6E6E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67FA3-C37F-61B7-2820-9FEE2A89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257282-801E-D1B3-062F-1168824D011F}"/>
              </a:ext>
            </a:extLst>
          </p:cNvPr>
          <p:cNvSpPr txBox="1">
            <a:spLocks/>
          </p:cNvSpPr>
          <p:nvPr/>
        </p:nvSpPr>
        <p:spPr>
          <a:xfrm>
            <a:off x="457200" y="14261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he-IL" sz="1600" dirty="0">
                <a:solidFill>
                  <a:srgbClr val="E6E6E6"/>
                </a:solidFill>
              </a:rPr>
              <a:t>ישנה דוגמא לפלט בתיקייה בקובץ בשם - </a:t>
            </a:r>
            <a:r>
              <a:rPr lang="en" sz="1600" dirty="0" err="1">
                <a:solidFill>
                  <a:srgbClr val="E6E6E6"/>
                </a:solidFill>
              </a:rPr>
              <a:t>outputExample.txt</a:t>
            </a:r>
            <a:endParaRPr lang="he-IL" sz="1600" dirty="0">
              <a:solidFill>
                <a:srgbClr val="E6E6E6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D4CDB62-055C-0F7A-9E2D-A1D79C54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he-IL" sz="4000" b="1" dirty="0">
                <a:solidFill>
                  <a:srgbClr val="FFFFFF"/>
                </a:solidFill>
              </a:rPr>
              <a:t>דוגמא לפלט</a:t>
            </a:r>
            <a:endParaRPr sz="4000" b="1" dirty="0">
              <a:solidFill>
                <a:srgbClr val="FFFFFF"/>
              </a:solidFill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17E82EE-DBE3-BF8A-4931-BCDC4ADD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3827"/>
            <a:ext cx="7772400" cy="479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10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תמונת מצב – קבצי הפרויקט ותפקידם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E827836-3556-086A-45B2-121EAF0FAA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6962" y="1720020"/>
            <a:ext cx="806983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block.js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מגדיר בלוק בשרשרת, מחשב את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ה־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hash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ובונה לכל בלוק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Merkle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Tree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ו־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Bloom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Filter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transaction.js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מגדיר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טרנזקציה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אחת, כולל חישוב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hash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nonce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חתימה ובדיקת תקינות החתימה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wallet.js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גוזר מפתח פרטי/ציבורי על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secp256k1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ומפיק כתובת ציבורית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transactionProcessor.js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מעבד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טרנזקציות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בודק יתרה, מיישם עמלות ומוסיף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טרנזקציית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coinbase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לבלוק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balancesState.js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מנהל את היתרות של כל ארנק במערכת, כולל חיובים וזיכויים במהלך הריצה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ledger.js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עוקב אחרי מטבעות שנשרפו ונכרו, מחשב את סך המטבעות ברשת ומדפיס סיכום סופי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miner.js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מממש את לוגיקת הכורה הבודד שבונה בלוק חדש מתוך רשימת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הטרנזקציות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minerScheduler.js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קובע מי הכורה של כל בלוק לפי סבב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ציקלי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בין הכורים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–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E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(ABCDEAB…).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merkleWrapper.js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עטיפה לעץ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Merkle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לבניית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Merkle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Root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וליצירה/אימות של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Merkle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Proof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לכל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טרנזקציה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bloomWrapper.js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עטיפה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ל־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Bloom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Filter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לבדיקת האם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טרנזקציה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עשויה להופיע בבלוק לפני חיפוש מלא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blockchain.js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מנהל את רשימת הבלוקים, בונה את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הבלוקצ'יין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מחפש הוכחות ומבצע בדיקת תקינות לשרשרת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main.js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נקודת הכניסה: יוצר ארנקים וכורים, טוען את קובץ </a:t>
            </a:r>
            <a:r>
              <a:rPr kumimoji="0" lang="he-IL" altLang="he-IL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הטרנזקציות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בונה את השרשרת ומריץ את ההדגמות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Block</a:t>
            </a:r>
            <a:endParaRPr sz="3600" b="1" dirty="0">
              <a:solidFill>
                <a:srgbClr val="FFFFFF"/>
              </a:solidFill>
            </a:endParaRP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0A26520D-C4D5-31CD-4B4E-3ABB750E6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53" y="1417638"/>
            <a:ext cx="4999258" cy="20915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2DC7978C-EE6F-0DC5-1D94-550112002701}"/>
              </a:ext>
            </a:extLst>
          </p:cNvPr>
          <p:cNvSpPr txBox="1"/>
          <p:nvPr/>
        </p:nvSpPr>
        <p:spPr>
          <a:xfrm>
            <a:off x="1947482" y="1160661"/>
            <a:ext cx="13970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400" b="1" dirty="0">
                <a:solidFill>
                  <a:srgbClr val="FFFFFF"/>
                </a:solidFill>
              </a:rPr>
              <a:t>מבנה הבלוק</a:t>
            </a: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D53F6998-3B2D-FE60-8530-B1EFEA84A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53" y="5441313"/>
            <a:ext cx="4999258" cy="13207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C78EF1A3-39D4-EF62-8685-7927235E80A6}"/>
              </a:ext>
            </a:extLst>
          </p:cNvPr>
          <p:cNvSpPr txBox="1"/>
          <p:nvPr/>
        </p:nvSpPr>
        <p:spPr>
          <a:xfrm>
            <a:off x="1947482" y="5164388"/>
            <a:ext cx="13970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400" b="1" dirty="0">
                <a:solidFill>
                  <a:srgbClr val="FFFFFF"/>
                </a:solidFill>
              </a:rPr>
              <a:t>חישוב </a:t>
            </a:r>
            <a:r>
              <a:rPr lang="en-US" sz="1400" b="1" dirty="0">
                <a:solidFill>
                  <a:srgbClr val="FFFFFF"/>
                </a:solidFill>
              </a:rPr>
              <a:t>hash</a:t>
            </a:r>
            <a:endParaRPr lang="he-IL" sz="1400" b="1" dirty="0">
              <a:solidFill>
                <a:srgbClr val="FFFFFF"/>
              </a:solidFill>
            </a:endParaRPr>
          </a:p>
        </p:txBody>
      </p: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F2FFE606-0A9F-94FF-7B4F-67AF98ADAC4B}"/>
              </a:ext>
            </a:extLst>
          </p:cNvPr>
          <p:cNvCxnSpPr>
            <a:cxnSpLocks/>
          </p:cNvCxnSpPr>
          <p:nvPr/>
        </p:nvCxnSpPr>
        <p:spPr>
          <a:xfrm>
            <a:off x="1396953" y="6241143"/>
            <a:ext cx="4614333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96C9596A-2374-B5DA-5914-D699DF124E87}"/>
              </a:ext>
            </a:extLst>
          </p:cNvPr>
          <p:cNvCxnSpPr/>
          <p:nvPr/>
        </p:nvCxnSpPr>
        <p:spPr>
          <a:xfrm flipV="1">
            <a:off x="1396953" y="6101712"/>
            <a:ext cx="0" cy="139431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A85916B0-DA6C-2966-B7D4-FCBEC9ED5B1E}"/>
              </a:ext>
            </a:extLst>
          </p:cNvPr>
          <p:cNvSpPr txBox="1"/>
          <p:nvPr/>
        </p:nvSpPr>
        <p:spPr>
          <a:xfrm>
            <a:off x="6073175" y="6010310"/>
            <a:ext cx="135793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200" dirty="0">
                <a:solidFill>
                  <a:schemeClr val="bg1"/>
                </a:solidFill>
              </a:rPr>
              <a:t>כל </a:t>
            </a:r>
            <a:r>
              <a:rPr lang="he-IL" sz="1200" dirty="0" err="1">
                <a:solidFill>
                  <a:schemeClr val="bg1"/>
                </a:solidFill>
              </a:rPr>
              <a:t>טרנזקציה</a:t>
            </a:r>
            <a:r>
              <a:rPr lang="he-IL" sz="1200" dirty="0">
                <a:solidFill>
                  <a:schemeClr val="bg1"/>
                </a:solidFill>
              </a:rPr>
              <a:t> מעדכנת את ה</a:t>
            </a:r>
            <a:r>
              <a:rPr lang="en-US" sz="1200" dirty="0">
                <a:solidFill>
                  <a:schemeClr val="bg1"/>
                </a:solidFill>
              </a:rPr>
              <a:t>hash</a:t>
            </a:r>
            <a:endParaRPr lang="he-IL" sz="1200" dirty="0">
              <a:solidFill>
                <a:schemeClr val="bg1"/>
              </a:solidFill>
            </a:endParaRPr>
          </a:p>
        </p:txBody>
      </p:sp>
      <p:pic>
        <p:nvPicPr>
          <p:cNvPr id="20" name="תמונה 19">
            <a:extLst>
              <a:ext uri="{FF2B5EF4-FFF2-40B4-BE49-F238E27FC236}">
                <a16:creationId xmlns:a16="http://schemas.microsoft.com/office/drawing/2014/main" id="{C0775075-66E7-1342-0AB4-03129B86C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464" y="2245744"/>
            <a:ext cx="5282293" cy="30806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210BC9C1-961F-1527-3CEB-DA9FB31C8EF0}"/>
              </a:ext>
            </a:extLst>
          </p:cNvPr>
          <p:cNvSpPr txBox="1"/>
          <p:nvPr/>
        </p:nvSpPr>
        <p:spPr>
          <a:xfrm>
            <a:off x="6814434" y="2245744"/>
            <a:ext cx="162743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400" b="1" dirty="0">
                <a:highlight>
                  <a:srgbClr val="FFFF00"/>
                </a:highlight>
              </a:rPr>
              <a:t>קבלת </a:t>
            </a:r>
            <a:r>
              <a:rPr lang="en-US" sz="1400" b="1" dirty="0" err="1">
                <a:highlight>
                  <a:srgbClr val="FFFF00"/>
                </a:highlight>
              </a:rPr>
              <a:t>merkle</a:t>
            </a:r>
            <a:r>
              <a:rPr lang="en-US" sz="1400" b="1" dirty="0">
                <a:highlight>
                  <a:srgbClr val="FFFF00"/>
                </a:highlight>
              </a:rPr>
              <a:t> root</a:t>
            </a:r>
            <a:r>
              <a:rPr lang="he-IL" sz="1400" b="1" dirty="0">
                <a:highlight>
                  <a:srgbClr val="FFFF00"/>
                </a:highlight>
              </a:rPr>
              <a:t> של הבלוק</a:t>
            </a: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B1FF4473-3A85-8F6D-B080-B7DD528BA8A6}"/>
              </a:ext>
            </a:extLst>
          </p:cNvPr>
          <p:cNvSpPr txBox="1"/>
          <p:nvPr/>
        </p:nvSpPr>
        <p:spPr>
          <a:xfrm>
            <a:off x="6864022" y="3124980"/>
            <a:ext cx="2141789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400" b="1" dirty="0">
                <a:highlight>
                  <a:srgbClr val="FFFF00"/>
                </a:highlight>
              </a:rPr>
              <a:t>ווידוא כי ה</a:t>
            </a:r>
            <a:r>
              <a:rPr lang="en-US" sz="1400" b="1" dirty="0" err="1">
                <a:highlight>
                  <a:srgbClr val="FFFF00"/>
                </a:highlight>
              </a:rPr>
              <a:t>merkle</a:t>
            </a:r>
            <a:r>
              <a:rPr lang="en-US" sz="1400" b="1" dirty="0">
                <a:highlight>
                  <a:srgbClr val="FFFF00"/>
                </a:highlight>
              </a:rPr>
              <a:t> proof</a:t>
            </a:r>
            <a:r>
              <a:rPr lang="he-IL" sz="1400" b="1" dirty="0">
                <a:highlight>
                  <a:srgbClr val="FFFF00"/>
                </a:highlight>
              </a:rPr>
              <a:t> עבור </a:t>
            </a:r>
            <a:r>
              <a:rPr lang="he-IL" sz="1400" b="1" dirty="0" err="1">
                <a:highlight>
                  <a:srgbClr val="FFFF00"/>
                </a:highlight>
              </a:rPr>
              <a:t>טרנזקציה</a:t>
            </a:r>
            <a:r>
              <a:rPr lang="he-IL" sz="1400" b="1" dirty="0">
                <a:highlight>
                  <a:srgbClr val="FFFF00"/>
                </a:highlight>
              </a:rPr>
              <a:t> ספציפית תקין</a:t>
            </a: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D47E52D2-D156-592F-2DCC-DFD7D20E7254}"/>
              </a:ext>
            </a:extLst>
          </p:cNvPr>
          <p:cNvSpPr txBox="1"/>
          <p:nvPr/>
        </p:nvSpPr>
        <p:spPr>
          <a:xfrm>
            <a:off x="6878512" y="4641168"/>
            <a:ext cx="2141789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400" b="1" dirty="0">
                <a:highlight>
                  <a:srgbClr val="FFFF00"/>
                </a:highlight>
              </a:rPr>
              <a:t>מציאת </a:t>
            </a:r>
            <a:r>
              <a:rPr lang="he-IL" sz="1400" b="1" dirty="0" err="1">
                <a:highlight>
                  <a:srgbClr val="FFFF00"/>
                </a:highlight>
              </a:rPr>
              <a:t>טרנזקציה</a:t>
            </a:r>
            <a:r>
              <a:rPr lang="he-IL" sz="1400" b="1" dirty="0">
                <a:highlight>
                  <a:srgbClr val="FFFF00"/>
                </a:highlight>
              </a:rPr>
              <a:t> </a:t>
            </a:r>
            <a:r>
              <a:rPr lang="he-IL" sz="1400" b="1" dirty="0" err="1">
                <a:highlight>
                  <a:srgbClr val="FFFF00"/>
                </a:highlight>
              </a:rPr>
              <a:t>ששיכת</a:t>
            </a:r>
            <a:r>
              <a:rPr lang="he-IL" sz="1400" b="1" dirty="0">
                <a:highlight>
                  <a:srgbClr val="FFFF00"/>
                </a:highlight>
              </a:rPr>
              <a:t> לבלוק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AD000B36-D00D-A09F-2279-36CD2E26C1AF}"/>
              </a:ext>
            </a:extLst>
          </p:cNvPr>
          <p:cNvSpPr txBox="1"/>
          <p:nvPr/>
        </p:nvSpPr>
        <p:spPr>
          <a:xfrm>
            <a:off x="5228010" y="1989097"/>
            <a:ext cx="359334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400" b="1" dirty="0">
                <a:solidFill>
                  <a:srgbClr val="FFFFFF"/>
                </a:solidFill>
              </a:rPr>
              <a:t>פונקציות המשמשות לקבלת הוכחת </a:t>
            </a:r>
            <a:r>
              <a:rPr lang="he-IL" sz="1400" b="1" dirty="0" err="1">
                <a:solidFill>
                  <a:srgbClr val="FFFFFF"/>
                </a:solidFill>
              </a:rPr>
              <a:t>טרנזקציה</a:t>
            </a:r>
            <a:endParaRPr lang="he-IL" sz="1400" b="1" dirty="0">
              <a:solidFill>
                <a:srgbClr val="FFFFFF"/>
              </a:solidFill>
            </a:endParaRP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CF3134B6-4256-F0E7-002B-70F02E16A26F}"/>
              </a:ext>
            </a:extLst>
          </p:cNvPr>
          <p:cNvSpPr/>
          <p:nvPr/>
        </p:nvSpPr>
        <p:spPr>
          <a:xfrm>
            <a:off x="635194" y="2359292"/>
            <a:ext cx="1486772" cy="1069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457200" rtl="1" eaLnBrk="1" latinLnBrk="0" hangingPunct="1"/>
            <a:endParaRPr lang="he-IL"/>
          </a:p>
        </p:txBody>
      </p:sp>
      <p:cxnSp>
        <p:nvCxnSpPr>
          <p:cNvPr id="27" name="מחבר ישר 26">
            <a:extLst>
              <a:ext uri="{FF2B5EF4-FFF2-40B4-BE49-F238E27FC236}">
                <a16:creationId xmlns:a16="http://schemas.microsoft.com/office/drawing/2014/main" id="{5D29A2EC-EA65-4B3B-AB2B-962F51E5E55E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1378580" y="3429000"/>
            <a:ext cx="0" cy="610985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67CC36AD-79E0-076A-C97F-B194702D4641}"/>
              </a:ext>
            </a:extLst>
          </p:cNvPr>
          <p:cNvSpPr txBox="1"/>
          <p:nvPr/>
        </p:nvSpPr>
        <p:spPr>
          <a:xfrm>
            <a:off x="525552" y="4064087"/>
            <a:ext cx="1706055" cy="938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pPr algn="r" defTabSz="457200" rtl="1" eaLnBrk="1" latinLnBrk="0" hangingPunct="1"/>
            <a:r>
              <a:rPr lang="he-IL" sz="1100" dirty="0">
                <a:solidFill>
                  <a:schemeClr val="bg1"/>
                </a:solidFill>
              </a:rPr>
              <a:t>כל בלוק מכיל</a:t>
            </a:r>
            <a:r>
              <a:rPr lang="en-US" sz="1100" dirty="0">
                <a:solidFill>
                  <a:schemeClr val="bg1"/>
                </a:solidFill>
              </a:rPr>
              <a:t>:</a:t>
            </a:r>
          </a:p>
          <a:p>
            <a:pPr marL="285750" indent="-2857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Merkle tree</a:t>
            </a:r>
          </a:p>
          <a:p>
            <a:pPr marL="285750" indent="-2857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Bloom filter</a:t>
            </a:r>
          </a:p>
          <a:p>
            <a:pPr algn="ctr" defTabSz="457200" rtl="1" eaLnBrk="1" latinLnBrk="0" hangingPunct="1"/>
            <a:r>
              <a:rPr lang="he-IL" sz="1100" dirty="0">
                <a:solidFill>
                  <a:schemeClr val="bg1"/>
                </a:solidFill>
              </a:rPr>
              <a:t>כדי לאפשר חיפוש </a:t>
            </a:r>
            <a:r>
              <a:rPr lang="he-IL" sz="1100" dirty="0" err="1">
                <a:solidFill>
                  <a:schemeClr val="bg1"/>
                </a:solidFill>
              </a:rPr>
              <a:t>טרנזקציה</a:t>
            </a:r>
            <a:r>
              <a:rPr lang="he-IL" sz="1100" dirty="0">
                <a:solidFill>
                  <a:schemeClr val="bg1"/>
                </a:solidFill>
              </a:rPr>
              <a:t> </a:t>
            </a:r>
            <a:r>
              <a:rPr lang="he-IL" sz="1100" dirty="0" err="1">
                <a:solidFill>
                  <a:schemeClr val="bg1"/>
                </a:solidFill>
              </a:rPr>
              <a:t>בבלוקצ׳יין</a:t>
            </a:r>
            <a:r>
              <a:rPr lang="he-IL" sz="1100" dirty="0">
                <a:solidFill>
                  <a:schemeClr val="bg1"/>
                </a:solidFill>
              </a:rPr>
              <a:t> ובבלוק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Bloom </a:t>
            </a:r>
            <a:r>
              <a:rPr sz="3600" b="1" dirty="0" err="1">
                <a:solidFill>
                  <a:srgbClr val="FFFFFF"/>
                </a:solidFill>
              </a:rPr>
              <a:t>Filte</a:t>
            </a:r>
            <a:r>
              <a:rPr lang="en" sz="3600" b="1" dirty="0">
                <a:solidFill>
                  <a:srgbClr val="FFFFFF"/>
                </a:solidFill>
              </a:rPr>
              <a:t>r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8101"/>
            <a:ext cx="8229600" cy="1358899"/>
          </a:xfrm>
        </p:spPr>
        <p:txBody>
          <a:bodyPr/>
          <a:lstStyle/>
          <a:p>
            <a:pPr algn="r" rtl="1"/>
            <a:r>
              <a:rPr lang="he-IL" sz="1800" dirty="0">
                <a:solidFill>
                  <a:schemeClr val="bg1"/>
                </a:solidFill>
              </a:rPr>
              <a:t>כל בלוק מחזיק </a:t>
            </a:r>
            <a:r>
              <a:rPr lang="en" sz="1800" dirty="0">
                <a:solidFill>
                  <a:schemeClr val="bg1"/>
                </a:solidFill>
              </a:rPr>
              <a:t>Bloom Filter</a:t>
            </a:r>
            <a:r>
              <a:rPr lang="he-IL" sz="1800" dirty="0">
                <a:solidFill>
                  <a:schemeClr val="bg1"/>
                </a:solidFill>
              </a:rPr>
              <a:t> שנבנה מעל ה-</a:t>
            </a:r>
            <a:r>
              <a:rPr lang="en-US" sz="1800" dirty="0">
                <a:solidFill>
                  <a:schemeClr val="bg1"/>
                </a:solidFill>
              </a:rPr>
              <a:t>hash</a:t>
            </a:r>
            <a:r>
              <a:rPr lang="he-IL" sz="1800" dirty="0">
                <a:solidFill>
                  <a:schemeClr val="bg1"/>
                </a:solidFill>
              </a:rPr>
              <a:t> של כל </a:t>
            </a:r>
            <a:r>
              <a:rPr lang="he-IL" sz="1800" dirty="0" err="1">
                <a:solidFill>
                  <a:schemeClr val="bg1"/>
                </a:solidFill>
              </a:rPr>
              <a:t>הטרנזקציות</a:t>
            </a:r>
            <a:r>
              <a:rPr lang="he-IL" sz="1800" dirty="0">
                <a:solidFill>
                  <a:schemeClr val="bg1"/>
                </a:solidFill>
              </a:rPr>
              <a:t>.</a:t>
            </a:r>
          </a:p>
          <a:p>
            <a:pPr algn="r" rtl="1"/>
            <a:r>
              <a:rPr lang="he-IL" sz="1800" dirty="0">
                <a:solidFill>
                  <a:schemeClr val="bg1"/>
                </a:solidFill>
              </a:rPr>
              <a:t>מחלקת </a:t>
            </a:r>
            <a:r>
              <a:rPr lang="en" sz="1800" dirty="0" err="1">
                <a:solidFill>
                  <a:schemeClr val="bg1"/>
                </a:solidFill>
              </a:rPr>
              <a:t>BloomWrapper</a:t>
            </a:r>
            <a:r>
              <a:rPr lang="he-IL" sz="1800" dirty="0">
                <a:solidFill>
                  <a:schemeClr val="bg1"/>
                </a:solidFill>
              </a:rPr>
              <a:t> עוטפת את הספרייה ומספקת פונקציית אינדיקציה אם </a:t>
            </a:r>
            <a:r>
              <a:rPr lang="he-IL" sz="1800" dirty="0" err="1">
                <a:solidFill>
                  <a:schemeClr val="bg1"/>
                </a:solidFill>
              </a:rPr>
              <a:t>טרנזקציה</a:t>
            </a:r>
            <a:r>
              <a:rPr lang="he-IL" sz="1800" dirty="0">
                <a:solidFill>
                  <a:schemeClr val="bg1"/>
                </a:solidFill>
              </a:rPr>
              <a:t> ״אולי קיימת״ בבלוק לפני חיפוש מלא בבלוק.</a:t>
            </a:r>
          </a:p>
          <a:p>
            <a:pPr algn="r" rtl="1"/>
            <a:r>
              <a:rPr lang="he-IL" sz="1800" dirty="0">
                <a:solidFill>
                  <a:schemeClr val="bg1"/>
                </a:solidFill>
              </a:rPr>
              <a:t>ה</a:t>
            </a:r>
            <a:r>
              <a:rPr lang="en" sz="1800" dirty="0">
                <a:solidFill>
                  <a:schemeClr val="bg1"/>
                </a:solidFill>
              </a:rPr>
              <a:t>blockchain</a:t>
            </a:r>
            <a:r>
              <a:rPr lang="he-IL" sz="1800" dirty="0">
                <a:solidFill>
                  <a:schemeClr val="bg1"/>
                </a:solidFill>
              </a:rPr>
              <a:t> משתמש ב</a:t>
            </a:r>
            <a:r>
              <a:rPr lang="en-US" sz="1800" dirty="0">
                <a:solidFill>
                  <a:schemeClr val="bg1"/>
                </a:solidFill>
              </a:rPr>
              <a:t>Bloom</a:t>
            </a:r>
            <a:r>
              <a:rPr lang="he-IL" sz="1800" dirty="0">
                <a:solidFill>
                  <a:schemeClr val="bg1"/>
                </a:solidFill>
              </a:rPr>
              <a:t> כדי לסנן בלוקים שבהם </a:t>
            </a:r>
            <a:r>
              <a:rPr lang="he-IL" sz="1800" dirty="0" err="1">
                <a:solidFill>
                  <a:schemeClr val="bg1"/>
                </a:solidFill>
              </a:rPr>
              <a:t>הטרנזקציה</a:t>
            </a:r>
            <a:r>
              <a:rPr lang="he-IL" sz="1800" dirty="0">
                <a:solidFill>
                  <a:schemeClr val="bg1"/>
                </a:solidFill>
              </a:rPr>
              <a:t> לא יכולה להופיע.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17DFB99-17AD-3EBA-54BF-D2EFAAED3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66377"/>
            <a:ext cx="7772400" cy="320804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Merkle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934" y="1422047"/>
            <a:ext cx="8229600" cy="1414286"/>
          </a:xfrm>
        </p:spPr>
        <p:txBody>
          <a:bodyPr>
            <a:normAutofit/>
          </a:bodyPr>
          <a:lstStyle/>
          <a:p>
            <a:pPr algn="r" rtl="1"/>
            <a:r>
              <a:rPr lang="he-IL" sz="1400" b="1" dirty="0">
                <a:solidFill>
                  <a:srgbClr val="FFFFFF"/>
                </a:solidFill>
              </a:rPr>
              <a:t>בכל בלוק נבנה </a:t>
            </a:r>
            <a:r>
              <a:rPr lang="en" sz="1400" b="1" dirty="0">
                <a:solidFill>
                  <a:srgbClr val="FFFFFF"/>
                </a:solidFill>
              </a:rPr>
              <a:t>Merkle Tree</a:t>
            </a:r>
            <a:r>
              <a:rPr lang="he-IL" sz="1400" b="1" dirty="0">
                <a:solidFill>
                  <a:srgbClr val="FFFFFF"/>
                </a:solidFill>
              </a:rPr>
              <a:t> על בסיס </a:t>
            </a:r>
            <a:r>
              <a:rPr lang="en-US" sz="1400" b="1" dirty="0">
                <a:solidFill>
                  <a:srgbClr val="FFFFFF"/>
                </a:solidFill>
              </a:rPr>
              <a:t>hash</a:t>
            </a:r>
            <a:r>
              <a:rPr lang="he-IL" sz="1400" b="1" dirty="0">
                <a:solidFill>
                  <a:srgbClr val="FFFFFF"/>
                </a:solidFill>
              </a:rPr>
              <a:t> של </a:t>
            </a:r>
            <a:r>
              <a:rPr lang="he-IL" sz="1400" b="1" dirty="0" err="1">
                <a:solidFill>
                  <a:srgbClr val="FFFFFF"/>
                </a:solidFill>
              </a:rPr>
              <a:t>הטרנזקציות</a:t>
            </a:r>
            <a:r>
              <a:rPr lang="he-IL" sz="1400" b="1" dirty="0">
                <a:solidFill>
                  <a:srgbClr val="FFFFFF"/>
                </a:solidFill>
              </a:rPr>
              <a:t>.</a:t>
            </a:r>
            <a:endParaRPr sz="1400" b="1" dirty="0">
              <a:solidFill>
                <a:srgbClr val="FFFFFF"/>
              </a:solidFill>
            </a:endParaRPr>
          </a:p>
          <a:p>
            <a:pPr algn="r" rtl="1"/>
            <a:r>
              <a:rPr lang="en" sz="1400" b="1" dirty="0">
                <a:solidFill>
                  <a:srgbClr val="FFFFFF"/>
                </a:solidFill>
              </a:rPr>
              <a:t>Merkle Tree</a:t>
            </a:r>
            <a:r>
              <a:rPr lang="he-IL" sz="1400" b="1" dirty="0">
                <a:solidFill>
                  <a:srgbClr val="FFFFFF"/>
                </a:solidFill>
              </a:rPr>
              <a:t> יוצר </a:t>
            </a:r>
            <a:r>
              <a:rPr lang="en-US" sz="1400" b="1" dirty="0">
                <a:solidFill>
                  <a:srgbClr val="FFFFFF"/>
                </a:solidFill>
              </a:rPr>
              <a:t>root</a:t>
            </a:r>
            <a:r>
              <a:rPr lang="he-IL" sz="1400" b="1" dirty="0">
                <a:solidFill>
                  <a:srgbClr val="FFFFFF"/>
                </a:solidFill>
              </a:rPr>
              <a:t> ומספק </a:t>
            </a:r>
            <a:r>
              <a:rPr lang="en-US" sz="1400" b="1" dirty="0" err="1">
                <a:solidFill>
                  <a:srgbClr val="FFFFFF"/>
                </a:solidFill>
              </a:rPr>
              <a:t>getProof</a:t>
            </a:r>
            <a:r>
              <a:rPr lang="en-US" sz="1400" b="1" dirty="0">
                <a:solidFill>
                  <a:srgbClr val="FFFFFF"/>
                </a:solidFill>
              </a:rPr>
              <a:t>()</a:t>
            </a:r>
            <a:r>
              <a:rPr lang="he-IL" sz="1400" b="1" dirty="0">
                <a:solidFill>
                  <a:srgbClr val="FFFFFF"/>
                </a:solidFill>
              </a:rPr>
              <a:t> ו</a:t>
            </a:r>
            <a:r>
              <a:rPr lang="en-US" sz="1400" b="1" dirty="0">
                <a:solidFill>
                  <a:srgbClr val="FFFFFF"/>
                </a:solidFill>
              </a:rPr>
              <a:t>verify()</a:t>
            </a:r>
            <a:r>
              <a:rPr lang="he-IL" sz="1400" b="1" dirty="0">
                <a:solidFill>
                  <a:srgbClr val="FFFFFF"/>
                </a:solidFill>
              </a:rPr>
              <a:t>.</a:t>
            </a:r>
          </a:p>
          <a:p>
            <a:pPr algn="r" rtl="1"/>
            <a:r>
              <a:rPr lang="he-IL" sz="1400" b="1" dirty="0">
                <a:solidFill>
                  <a:srgbClr val="FFFFFF"/>
                </a:solidFill>
              </a:rPr>
              <a:t>הבלוק משתמש ב </a:t>
            </a:r>
            <a:r>
              <a:rPr lang="en" sz="1400" b="1" dirty="0">
                <a:solidFill>
                  <a:srgbClr val="FFFFFF"/>
                </a:solidFill>
              </a:rPr>
              <a:t>Merkle Tree</a:t>
            </a:r>
            <a:r>
              <a:rPr lang="he-IL" sz="1400" b="1" dirty="0">
                <a:solidFill>
                  <a:srgbClr val="FFFFFF"/>
                </a:solidFill>
              </a:rPr>
              <a:t> לייצר </a:t>
            </a:r>
            <a:r>
              <a:rPr lang="en" sz="1400" b="1" dirty="0">
                <a:solidFill>
                  <a:srgbClr val="FFFFFF"/>
                </a:solidFill>
              </a:rPr>
              <a:t>Merkle Proo</a:t>
            </a:r>
            <a:r>
              <a:rPr lang="he-IL" sz="1400" b="1" dirty="0">
                <a:solidFill>
                  <a:srgbClr val="FFFFFF"/>
                </a:solidFill>
              </a:rPr>
              <a:t>.</a:t>
            </a:r>
          </a:p>
          <a:p>
            <a:pPr algn="r" rtl="1"/>
            <a:r>
              <a:rPr lang="he-IL" sz="1400" b="1" dirty="0" err="1">
                <a:solidFill>
                  <a:srgbClr val="FFFFFF"/>
                </a:solidFill>
              </a:rPr>
              <a:t>הבולקצ׳יין</a:t>
            </a:r>
            <a:r>
              <a:rPr lang="he-IL" sz="1400" b="1" dirty="0">
                <a:solidFill>
                  <a:srgbClr val="FFFFFF"/>
                </a:solidFill>
              </a:rPr>
              <a:t> מחזיר לארנק הקל </a:t>
            </a:r>
            <a:r>
              <a:rPr lang="en" sz="1400" b="1" dirty="0" err="1">
                <a:solidFill>
                  <a:srgbClr val="FFFFFF"/>
                </a:solidFill>
              </a:rPr>
              <a:t>blockIndex</a:t>
            </a:r>
            <a:r>
              <a:rPr lang="en" sz="1400" b="1" dirty="0">
                <a:solidFill>
                  <a:srgbClr val="FFFFFF"/>
                </a:solidFill>
              </a:rPr>
              <a:t>, </a:t>
            </a:r>
            <a:r>
              <a:rPr lang="en" sz="1400" b="1" dirty="0" err="1">
                <a:solidFill>
                  <a:srgbClr val="FFFFFF"/>
                </a:solidFill>
              </a:rPr>
              <a:t>merkleRoot</a:t>
            </a:r>
            <a:r>
              <a:rPr lang="en" sz="1400" b="1" dirty="0">
                <a:solidFill>
                  <a:srgbClr val="FFFFFF"/>
                </a:solidFill>
              </a:rPr>
              <a:t> </a:t>
            </a:r>
            <a:r>
              <a:rPr lang="he-IL" sz="1400" b="1" dirty="0">
                <a:solidFill>
                  <a:srgbClr val="FFFFFF"/>
                </a:solidFill>
              </a:rPr>
              <a:t>ו־</a:t>
            </a:r>
            <a:r>
              <a:rPr lang="en" sz="1400" b="1" dirty="0">
                <a:solidFill>
                  <a:srgbClr val="FFFFFF"/>
                </a:solidFill>
              </a:rPr>
              <a:t>Merkle Proof.</a:t>
            </a:r>
            <a:r>
              <a:rPr lang="he-IL" sz="1400" b="1" dirty="0">
                <a:solidFill>
                  <a:srgbClr val="FFFFFF"/>
                </a:solidFill>
              </a:rPr>
              <a:t>, כך ניתן להוכיח קיום </a:t>
            </a:r>
            <a:r>
              <a:rPr lang="he-IL" sz="1400" b="1" dirty="0" err="1">
                <a:solidFill>
                  <a:srgbClr val="FFFFFF"/>
                </a:solidFill>
              </a:rPr>
              <a:t>טרנזקציה</a:t>
            </a:r>
            <a:r>
              <a:rPr lang="he-IL" sz="1400" b="1" dirty="0">
                <a:solidFill>
                  <a:srgbClr val="FFFFFF"/>
                </a:solidFill>
              </a:rPr>
              <a:t> בלי לשלוח את כל הבלוק.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78C29EF-1FD9-1C38-A22D-00A17884D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836333"/>
            <a:ext cx="5554605" cy="20404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92E417F7-C1EB-48F4-0427-076D0789C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4783665"/>
            <a:ext cx="5554605" cy="20404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6153F73-0D85-83B1-8780-CFFEA7E44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411" y="4241092"/>
            <a:ext cx="4594594" cy="13730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7A6C9-DB4C-8F95-7CEE-2CB118C8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B9DF-8542-666F-3D04-A5149F706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Bl</a:t>
            </a:r>
            <a:r>
              <a:rPr lang="en-US" sz="3600" b="1" dirty="0">
                <a:solidFill>
                  <a:srgbClr val="FFFFFF"/>
                </a:solidFill>
              </a:rPr>
              <a:t>ockchain – </a:t>
            </a:r>
            <a:r>
              <a:rPr lang="he-IL" sz="3600" b="1" dirty="0">
                <a:solidFill>
                  <a:srgbClr val="FFFFFF"/>
                </a:solidFill>
              </a:rPr>
              <a:t>קבלת הוכחת </a:t>
            </a:r>
            <a:r>
              <a:rPr lang="he-IL" sz="3600" b="1" dirty="0" err="1">
                <a:solidFill>
                  <a:srgbClr val="FFFFFF"/>
                </a:solidFill>
              </a:rPr>
              <a:t>טרנזקציה</a:t>
            </a:r>
            <a:endParaRPr sz="3600" b="1" dirty="0">
              <a:solidFill>
                <a:srgbClr val="FFFFFF"/>
              </a:solidFill>
            </a:endParaRP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E5455981-190B-7776-F3FD-9AB2E72D73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77"/>
          <a:stretch>
            <a:fillRect/>
          </a:stretch>
        </p:blipFill>
        <p:spPr>
          <a:xfrm>
            <a:off x="69273" y="1517654"/>
            <a:ext cx="5112327" cy="42250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63753C45-F36A-9FBA-CE55-68BF22A9DED2}"/>
              </a:ext>
            </a:extLst>
          </p:cNvPr>
          <p:cNvSpPr txBox="1"/>
          <p:nvPr/>
        </p:nvSpPr>
        <p:spPr>
          <a:xfrm>
            <a:off x="5230091" y="1833510"/>
            <a:ext cx="3844636" cy="37548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הפונקציה עוברת על כל הבלוקים בשרשרת.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בכל בלוק משתמשת ב־</a:t>
            </a:r>
            <a:r>
              <a:rPr lang="en" sz="1400" b="1" dirty="0">
                <a:solidFill>
                  <a:srgbClr val="FFFFFF"/>
                </a:solidFill>
              </a:rPr>
              <a:t>Bloom Filter </a:t>
            </a:r>
            <a:r>
              <a:rPr lang="he-IL" sz="1400" b="1" dirty="0">
                <a:solidFill>
                  <a:srgbClr val="FFFFFF"/>
                </a:solidFill>
              </a:rPr>
              <a:t> כדי לבדוק מהר אם </a:t>
            </a:r>
            <a:r>
              <a:rPr lang="he-IL" sz="1400" b="1" dirty="0" err="1">
                <a:solidFill>
                  <a:srgbClr val="FFFFFF"/>
                </a:solidFill>
              </a:rPr>
              <a:t>הטרנזקציה</a:t>
            </a:r>
            <a:r>
              <a:rPr lang="he-IL" sz="1400" b="1" dirty="0">
                <a:solidFill>
                  <a:srgbClr val="FFFFFF"/>
                </a:solidFill>
              </a:rPr>
              <a:t> עשויה להופיע בו, ואם לא – מדלגת הלאה.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אם ה־</a:t>
            </a:r>
            <a:r>
              <a:rPr lang="en" sz="1400" b="1" dirty="0">
                <a:solidFill>
                  <a:srgbClr val="FFFFFF"/>
                </a:solidFill>
              </a:rPr>
              <a:t>Bloom </a:t>
            </a:r>
            <a:r>
              <a:rPr lang="he-IL" sz="1400" b="1" dirty="0">
                <a:solidFill>
                  <a:srgbClr val="FFFFFF"/>
                </a:solidFill>
              </a:rPr>
              <a:t> אומר "אולי", היא מחפשת בבלוק את </a:t>
            </a:r>
            <a:r>
              <a:rPr lang="he-IL" sz="1400" b="1" dirty="0" err="1">
                <a:solidFill>
                  <a:srgbClr val="FFFFFF"/>
                </a:solidFill>
              </a:rPr>
              <a:t>הטרנזקציה</a:t>
            </a:r>
            <a:r>
              <a:rPr lang="he-IL" sz="1400" b="1" dirty="0">
                <a:solidFill>
                  <a:srgbClr val="FFFFFF"/>
                </a:solidFill>
              </a:rPr>
              <a:t> לפי ה-</a:t>
            </a:r>
            <a:r>
              <a:rPr lang="en-US" sz="1400" b="1" dirty="0">
                <a:solidFill>
                  <a:srgbClr val="FFFFFF"/>
                </a:solidFill>
              </a:rPr>
              <a:t>hash</a:t>
            </a:r>
            <a:r>
              <a:rPr lang="he-IL" sz="1400" b="1" dirty="0">
                <a:solidFill>
                  <a:srgbClr val="FFFFFF"/>
                </a:solidFill>
              </a:rPr>
              <a:t>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אם נמצאה – מפיקה לה </a:t>
            </a:r>
            <a:r>
              <a:rPr lang="en" sz="1400" b="1" dirty="0">
                <a:solidFill>
                  <a:srgbClr val="FFFFFF"/>
                </a:solidFill>
              </a:rPr>
              <a:t>Merkle Proof </a:t>
            </a:r>
            <a:r>
              <a:rPr lang="he-IL" sz="1400" b="1" dirty="0">
                <a:solidFill>
                  <a:srgbClr val="FFFFFF"/>
                </a:solidFill>
              </a:rPr>
              <a:t> מהעץ בבלוק, ומוודאת שה-</a:t>
            </a:r>
            <a:r>
              <a:rPr lang="en" sz="1400" b="1" dirty="0">
                <a:solidFill>
                  <a:srgbClr val="FFFFFF"/>
                </a:solidFill>
              </a:rPr>
              <a:t>proof</a:t>
            </a:r>
            <a:r>
              <a:rPr lang="he-IL" sz="1400" b="1" dirty="0">
                <a:solidFill>
                  <a:srgbClr val="FFFFFF"/>
                </a:solidFill>
              </a:rPr>
              <a:t> תקף מול ה</a:t>
            </a:r>
            <a:r>
              <a:rPr lang="en" sz="1400" b="1" dirty="0" err="1">
                <a:solidFill>
                  <a:srgbClr val="FFFFFF"/>
                </a:solidFill>
              </a:rPr>
              <a:t>merkleRoot</a:t>
            </a:r>
            <a:r>
              <a:rPr lang="he-IL" sz="1400" b="1" dirty="0">
                <a:solidFill>
                  <a:srgbClr val="FFFFFF"/>
                </a:solidFill>
              </a:rPr>
              <a:t> של הבלוק.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אם </a:t>
            </a:r>
            <a:r>
              <a:rPr lang="he-IL" sz="1400" b="1" dirty="0" err="1">
                <a:solidFill>
                  <a:srgbClr val="FFFFFF"/>
                </a:solidFill>
              </a:rPr>
              <a:t>הכל</a:t>
            </a:r>
            <a:r>
              <a:rPr lang="he-IL" sz="1400" b="1" dirty="0">
                <a:solidFill>
                  <a:srgbClr val="FFFFFF"/>
                </a:solidFill>
              </a:rPr>
              <a:t> תקין – מחזירה אובייקט הכולל את: 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מספר הבלוק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" sz="1400" b="1" dirty="0" err="1">
                <a:solidFill>
                  <a:srgbClr val="FFFFFF"/>
                </a:solidFill>
              </a:rPr>
              <a:t>blockHash</a:t>
            </a:r>
            <a:endParaRPr lang="he-IL" sz="1400" b="1" dirty="0">
              <a:solidFill>
                <a:srgbClr val="FFFFFF"/>
              </a:solidFill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ה-</a:t>
            </a:r>
            <a:r>
              <a:rPr lang="en" sz="1400" b="1" dirty="0" err="1">
                <a:solidFill>
                  <a:srgbClr val="FFFFFF"/>
                </a:solidFill>
              </a:rPr>
              <a:t>merkleRoot</a:t>
            </a:r>
            <a:endParaRPr lang="he-IL" sz="1400" b="1" dirty="0">
              <a:solidFill>
                <a:srgbClr val="FFFFFF"/>
              </a:solidFill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ה-</a:t>
            </a:r>
            <a:r>
              <a:rPr lang="en" sz="1400" b="1" dirty="0" err="1">
                <a:solidFill>
                  <a:srgbClr val="FFFFFF"/>
                </a:solidFill>
              </a:rPr>
              <a:t>transactionHash</a:t>
            </a:r>
            <a:endParaRPr lang="he-IL" sz="1400" b="1" dirty="0">
              <a:solidFill>
                <a:srgbClr val="FFFFFF"/>
              </a:solidFill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ה-</a:t>
            </a:r>
            <a:r>
              <a:rPr lang="en" sz="1400" b="1" dirty="0">
                <a:solidFill>
                  <a:srgbClr val="FFFFFF"/>
                </a:solidFill>
              </a:rPr>
              <a:t>proof</a:t>
            </a:r>
            <a:r>
              <a:rPr lang="he-IL" sz="1400" b="1" dirty="0">
                <a:solidFill>
                  <a:srgbClr val="FFFFFF"/>
                </a:solidFill>
              </a:rPr>
              <a:t> עצמו.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אם </a:t>
            </a:r>
            <a:r>
              <a:rPr lang="he-IL" sz="1400" b="1" dirty="0" err="1">
                <a:solidFill>
                  <a:srgbClr val="FFFFFF"/>
                </a:solidFill>
              </a:rPr>
              <a:t>הטרנזקציה</a:t>
            </a:r>
            <a:r>
              <a:rPr lang="he-IL" sz="1400" b="1" dirty="0">
                <a:solidFill>
                  <a:srgbClr val="FFFFFF"/>
                </a:solidFill>
              </a:rPr>
              <a:t> לא נמצאה או שה־</a:t>
            </a:r>
            <a:r>
              <a:rPr lang="en" sz="1400" b="1" dirty="0">
                <a:solidFill>
                  <a:srgbClr val="FFFFFF"/>
                </a:solidFill>
              </a:rPr>
              <a:t>proof </a:t>
            </a:r>
            <a:r>
              <a:rPr lang="he-IL" sz="1400" b="1" dirty="0">
                <a:solidFill>
                  <a:srgbClr val="FFFFFF"/>
                </a:solidFill>
              </a:rPr>
              <a:t> לא תקף – הפונקציה מחזירה </a:t>
            </a:r>
            <a:r>
              <a:rPr lang="en" sz="1400" b="1" dirty="0">
                <a:solidFill>
                  <a:srgbClr val="FFFFFF"/>
                </a:solidFill>
              </a:rPr>
              <a:t>null</a:t>
            </a:r>
            <a:r>
              <a:rPr lang="he-IL" sz="1400" b="1" dirty="0">
                <a:solidFill>
                  <a:srgbClr val="FFFFFF"/>
                </a:solidFill>
              </a:rPr>
              <a:t>.</a:t>
            </a:r>
          </a:p>
        </p:txBody>
      </p:sp>
      <p:cxnSp>
        <p:nvCxnSpPr>
          <p:cNvPr id="4" name="מחבר ישר 3">
            <a:extLst>
              <a:ext uri="{FF2B5EF4-FFF2-40B4-BE49-F238E27FC236}">
                <a16:creationId xmlns:a16="http://schemas.microsoft.com/office/drawing/2014/main" id="{BC1FEEB5-21EF-0FF2-5550-9DC1E929E183}"/>
              </a:ext>
            </a:extLst>
          </p:cNvPr>
          <p:cNvCxnSpPr>
            <a:cxnSpLocks/>
          </p:cNvCxnSpPr>
          <p:nvPr/>
        </p:nvCxnSpPr>
        <p:spPr>
          <a:xfrm>
            <a:off x="1474472" y="3294743"/>
            <a:ext cx="3582082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מחבר ישר 4">
            <a:extLst>
              <a:ext uri="{FF2B5EF4-FFF2-40B4-BE49-F238E27FC236}">
                <a16:creationId xmlns:a16="http://schemas.microsoft.com/office/drawing/2014/main" id="{209B7BF9-5D5E-6B76-4624-F32D84F46482}"/>
              </a:ext>
            </a:extLst>
          </p:cNvPr>
          <p:cNvCxnSpPr/>
          <p:nvPr/>
        </p:nvCxnSpPr>
        <p:spPr>
          <a:xfrm flipV="1">
            <a:off x="1474472" y="3155312"/>
            <a:ext cx="0" cy="139431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796B370-BBA0-C2CB-9BD0-4DB18D34B835}"/>
              </a:ext>
            </a:extLst>
          </p:cNvPr>
          <p:cNvSpPr txBox="1"/>
          <p:nvPr/>
        </p:nvSpPr>
        <p:spPr>
          <a:xfrm>
            <a:off x="4377586" y="6282874"/>
            <a:ext cx="135793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200" dirty="0">
                <a:solidFill>
                  <a:schemeClr val="bg1"/>
                </a:solidFill>
              </a:rPr>
              <a:t>מוסבר בשקף על בלוק</a:t>
            </a:r>
          </a:p>
        </p:txBody>
      </p: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35E3BE37-8F25-67FE-D56E-C5B41DAD69FE}"/>
              </a:ext>
            </a:extLst>
          </p:cNvPr>
          <p:cNvCxnSpPr>
            <a:cxnSpLocks/>
          </p:cNvCxnSpPr>
          <p:nvPr/>
        </p:nvCxnSpPr>
        <p:spPr>
          <a:xfrm>
            <a:off x="1474472" y="3876989"/>
            <a:ext cx="3582082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מחבר ישר 13">
            <a:extLst>
              <a:ext uri="{FF2B5EF4-FFF2-40B4-BE49-F238E27FC236}">
                <a16:creationId xmlns:a16="http://schemas.microsoft.com/office/drawing/2014/main" id="{030335FB-EAA2-842E-0143-238BA271D910}"/>
              </a:ext>
            </a:extLst>
          </p:cNvPr>
          <p:cNvCxnSpPr/>
          <p:nvPr/>
        </p:nvCxnSpPr>
        <p:spPr>
          <a:xfrm flipV="1">
            <a:off x="1474472" y="3737558"/>
            <a:ext cx="0" cy="139431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9DF6D32D-1A88-387D-6F27-443E204C9612}"/>
              </a:ext>
            </a:extLst>
          </p:cNvPr>
          <p:cNvCxnSpPr>
            <a:cxnSpLocks/>
          </p:cNvCxnSpPr>
          <p:nvPr/>
        </p:nvCxnSpPr>
        <p:spPr>
          <a:xfrm>
            <a:off x="1474472" y="3737558"/>
            <a:ext cx="3582082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DCBA4044-9B09-1613-A166-33FC9363641A}"/>
              </a:ext>
            </a:extLst>
          </p:cNvPr>
          <p:cNvCxnSpPr/>
          <p:nvPr/>
        </p:nvCxnSpPr>
        <p:spPr>
          <a:xfrm flipV="1">
            <a:off x="1474472" y="3598127"/>
            <a:ext cx="0" cy="139431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מחבר ישר 16">
            <a:extLst>
              <a:ext uri="{FF2B5EF4-FFF2-40B4-BE49-F238E27FC236}">
                <a16:creationId xmlns:a16="http://schemas.microsoft.com/office/drawing/2014/main" id="{6EC180F4-A62F-D85B-A74D-136FEE94F0D8}"/>
              </a:ext>
            </a:extLst>
          </p:cNvPr>
          <p:cNvCxnSpPr>
            <a:cxnSpLocks/>
          </p:cNvCxnSpPr>
          <p:nvPr/>
        </p:nvCxnSpPr>
        <p:spPr>
          <a:xfrm>
            <a:off x="5056554" y="3294743"/>
            <a:ext cx="0" cy="2910672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66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FC7FC-6446-7E99-CEF6-B8DC7A38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27BA-04DD-4726-08B6-368FD459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Bl</a:t>
            </a:r>
            <a:r>
              <a:rPr lang="en-US" sz="3600" b="1" dirty="0">
                <a:solidFill>
                  <a:srgbClr val="FFFFFF"/>
                </a:solidFill>
              </a:rPr>
              <a:t>ockchain – </a:t>
            </a:r>
            <a:r>
              <a:rPr lang="he-IL" sz="3600" b="1" dirty="0">
                <a:solidFill>
                  <a:srgbClr val="FFFFFF"/>
                </a:solidFill>
              </a:rPr>
              <a:t>הדגמת הוכחת </a:t>
            </a:r>
            <a:r>
              <a:rPr lang="he-IL" sz="3600" b="1" dirty="0" err="1">
                <a:solidFill>
                  <a:srgbClr val="FFFFFF"/>
                </a:solidFill>
              </a:rPr>
              <a:t>טרנזקציה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0FCEC020-1912-6F87-53C3-3EDF188E9B08}"/>
              </a:ext>
            </a:extLst>
          </p:cNvPr>
          <p:cNvSpPr txBox="1"/>
          <p:nvPr/>
        </p:nvSpPr>
        <p:spPr>
          <a:xfrm>
            <a:off x="5230091" y="2907077"/>
            <a:ext cx="3844636" cy="22467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en" sz="1400" b="1" dirty="0" err="1">
                <a:solidFill>
                  <a:srgbClr val="FFFFFF"/>
                </a:solidFill>
              </a:rPr>
              <a:t>demoProofSearch</a:t>
            </a:r>
            <a:r>
              <a:rPr lang="he-IL" sz="1400" b="1" dirty="0">
                <a:solidFill>
                  <a:srgbClr val="FFFFFF"/>
                </a:solidFill>
              </a:rPr>
              <a:t> היא פונקציית הדגמה ב</a:t>
            </a:r>
            <a:r>
              <a:rPr lang="en-US" sz="1400" b="1" dirty="0">
                <a:solidFill>
                  <a:srgbClr val="FFFFFF"/>
                </a:solidFill>
              </a:rPr>
              <a:t>main</a:t>
            </a:r>
            <a:r>
              <a:rPr lang="he-IL" sz="1400" b="1" dirty="0">
                <a:solidFill>
                  <a:srgbClr val="FFFFFF"/>
                </a:solidFill>
              </a:rPr>
              <a:t> שמראה את כל התהליך של הוכחת </a:t>
            </a:r>
            <a:r>
              <a:rPr lang="he-IL" sz="1400" b="1" dirty="0" err="1">
                <a:solidFill>
                  <a:srgbClr val="FFFFFF"/>
                </a:solidFill>
              </a:rPr>
              <a:t>טרנזקציה</a:t>
            </a:r>
            <a:r>
              <a:rPr lang="he-IL" sz="1400" b="1" dirty="0">
                <a:solidFill>
                  <a:srgbClr val="FFFFFF"/>
                </a:solidFill>
              </a:rPr>
              <a:t>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בוחרת </a:t>
            </a:r>
            <a:r>
              <a:rPr lang="he-IL" sz="1400" b="1" dirty="0" err="1">
                <a:solidFill>
                  <a:srgbClr val="FFFFFF"/>
                </a:solidFill>
              </a:rPr>
              <a:t>טרנזקציה</a:t>
            </a:r>
            <a:r>
              <a:rPr lang="he-IL" sz="1400" b="1" dirty="0">
                <a:solidFill>
                  <a:srgbClr val="FFFFFF"/>
                </a:solidFill>
              </a:rPr>
              <a:t> רנדומלית </a:t>
            </a:r>
            <a:r>
              <a:rPr lang="he-IL" sz="1400" b="1" dirty="0" err="1">
                <a:solidFill>
                  <a:srgbClr val="FFFFFF"/>
                </a:solidFill>
              </a:rPr>
              <a:t>מהבלוקצ׳יין</a:t>
            </a:r>
            <a:r>
              <a:rPr lang="he-IL" sz="1400" b="1" dirty="0">
                <a:solidFill>
                  <a:srgbClr val="FFFFFF"/>
                </a:solidFill>
              </a:rPr>
              <a:t> לא </a:t>
            </a:r>
            <a:r>
              <a:rPr lang="en-US" sz="1400" b="1" dirty="0" err="1">
                <a:solidFill>
                  <a:srgbClr val="FFFFFF"/>
                </a:solidFill>
              </a:rPr>
              <a:t>coinbase</a:t>
            </a:r>
            <a:r>
              <a:rPr lang="he-IL" sz="1400" b="1" dirty="0">
                <a:solidFill>
                  <a:srgbClr val="FFFFFF"/>
                </a:solidFill>
              </a:rPr>
              <a:t>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מדפיסה לקונסול מי שולח, למי, וכמה.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קוראת ל־</a:t>
            </a:r>
            <a:r>
              <a:rPr lang="en" sz="1400" b="1" dirty="0" err="1">
                <a:solidFill>
                  <a:srgbClr val="FFFFFF"/>
                </a:solidFill>
              </a:rPr>
              <a:t>blockchain.findTransactionProof</a:t>
            </a:r>
            <a:r>
              <a:rPr lang="en" sz="1400" b="1" dirty="0">
                <a:solidFill>
                  <a:srgbClr val="FFFFFF"/>
                </a:solidFill>
              </a:rPr>
              <a:t> </a:t>
            </a:r>
            <a:r>
              <a:rPr lang="he-IL" sz="1400" b="1" dirty="0">
                <a:solidFill>
                  <a:srgbClr val="FFFFFF"/>
                </a:solidFill>
              </a:rPr>
              <a:t> כדי לקבל 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" sz="1400" b="1" dirty="0">
                <a:solidFill>
                  <a:srgbClr val="FFFFFF"/>
                </a:solidFill>
              </a:rPr>
              <a:t>Merkle Proof</a:t>
            </a:r>
            <a:r>
              <a:rPr lang="he-IL" sz="1400" b="1" dirty="0" err="1">
                <a:solidFill>
                  <a:srgbClr val="FFFFFF"/>
                </a:solidFill>
              </a:rPr>
              <a:t>לטרנזקציה</a:t>
            </a:r>
            <a:r>
              <a:rPr lang="he-IL" sz="1400" b="1" dirty="0">
                <a:solidFill>
                  <a:srgbClr val="FFFFFF"/>
                </a:solidFill>
              </a:rPr>
              <a:t>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אם התקבלה הוכחה – מאמתת אותה שוב מול הבלוק ומדפיסה אם ה־</a:t>
            </a:r>
            <a:r>
              <a:rPr lang="en" sz="1400" b="1" dirty="0">
                <a:solidFill>
                  <a:srgbClr val="FFFFFF"/>
                </a:solidFill>
              </a:rPr>
              <a:t>proof </a:t>
            </a:r>
            <a:r>
              <a:rPr lang="he-IL" sz="1400" b="1" dirty="0">
                <a:solidFill>
                  <a:srgbClr val="FFFFFF"/>
                </a:solidFill>
              </a:rPr>
              <a:t> תקף (</a:t>
            </a:r>
            <a:r>
              <a:rPr lang="en" sz="1400" b="1" dirty="0">
                <a:solidFill>
                  <a:srgbClr val="FFFFFF"/>
                </a:solidFill>
              </a:rPr>
              <a:t>proof valid? true/false).</a:t>
            </a:r>
            <a:endParaRPr lang="he-IL" sz="1400" b="1" dirty="0">
              <a:solidFill>
                <a:srgbClr val="FFFFFF"/>
              </a:solidFill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B6080BA-E502-3C4E-3E2D-44C7AAE5B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6" y="1589103"/>
            <a:ext cx="5127935" cy="4882718"/>
          </a:xfrm>
          <a:prstGeom prst="rect">
            <a:avLst/>
          </a:prstGeom>
        </p:spPr>
      </p:pic>
      <p:cxnSp>
        <p:nvCxnSpPr>
          <p:cNvPr id="5" name="מחבר ישר 4">
            <a:extLst>
              <a:ext uri="{FF2B5EF4-FFF2-40B4-BE49-F238E27FC236}">
                <a16:creationId xmlns:a16="http://schemas.microsoft.com/office/drawing/2014/main" id="{594F59CB-B3EA-A036-6AD6-77E53AFB57B6}"/>
              </a:ext>
            </a:extLst>
          </p:cNvPr>
          <p:cNvCxnSpPr>
            <a:cxnSpLocks/>
          </p:cNvCxnSpPr>
          <p:nvPr/>
        </p:nvCxnSpPr>
        <p:spPr>
          <a:xfrm>
            <a:off x="1271272" y="4881266"/>
            <a:ext cx="3582082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0DA4D241-0CDB-CC99-4DC5-14FF2A2EB706}"/>
              </a:ext>
            </a:extLst>
          </p:cNvPr>
          <p:cNvCxnSpPr/>
          <p:nvPr/>
        </p:nvCxnSpPr>
        <p:spPr>
          <a:xfrm flipV="1">
            <a:off x="1271272" y="4741835"/>
            <a:ext cx="0" cy="139431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40163BA8-9266-02B5-3405-8B5DE1F0AE6C}"/>
              </a:ext>
            </a:extLst>
          </p:cNvPr>
          <p:cNvSpPr txBox="1"/>
          <p:nvPr/>
        </p:nvSpPr>
        <p:spPr>
          <a:xfrm>
            <a:off x="4174386" y="5231305"/>
            <a:ext cx="135793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200" dirty="0">
                <a:solidFill>
                  <a:schemeClr val="bg1"/>
                </a:solidFill>
              </a:rPr>
              <a:t>מוסבר בשקף על בלוק</a:t>
            </a:r>
          </a:p>
        </p:txBody>
      </p: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7F8B8F19-3A8C-B41B-B745-7D8D5F567EB8}"/>
              </a:ext>
            </a:extLst>
          </p:cNvPr>
          <p:cNvCxnSpPr>
            <a:cxnSpLocks/>
          </p:cNvCxnSpPr>
          <p:nvPr/>
        </p:nvCxnSpPr>
        <p:spPr>
          <a:xfrm>
            <a:off x="4853354" y="4881266"/>
            <a:ext cx="0" cy="27258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41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Blockchain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6400EAD2-A1CF-581F-D29E-8F95AECF8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3" y="1496008"/>
            <a:ext cx="6139828" cy="15330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A170B417-5F4E-2863-101D-6BBACA7DDDB3}"/>
              </a:ext>
            </a:extLst>
          </p:cNvPr>
          <p:cNvSpPr txBox="1"/>
          <p:nvPr/>
        </p:nvSpPr>
        <p:spPr>
          <a:xfrm>
            <a:off x="2529654" y="1235591"/>
            <a:ext cx="13970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400" b="1" dirty="0">
                <a:solidFill>
                  <a:srgbClr val="FFFFFF"/>
                </a:solidFill>
              </a:rPr>
              <a:t>מבנה </a:t>
            </a:r>
            <a:r>
              <a:rPr lang="he-IL" sz="1400" b="1" dirty="0" err="1">
                <a:solidFill>
                  <a:srgbClr val="FFFFFF"/>
                </a:solidFill>
              </a:rPr>
              <a:t>הבלוקצ׳יין</a:t>
            </a:r>
            <a:endParaRPr lang="he-IL" sz="1400" b="1" dirty="0">
              <a:solidFill>
                <a:srgbClr val="FFFFFF"/>
              </a:solidFill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1C5A28A6-A1CE-1C1F-AC57-0BEE5C8B3BD9}"/>
              </a:ext>
            </a:extLst>
          </p:cNvPr>
          <p:cNvSpPr txBox="1"/>
          <p:nvPr/>
        </p:nvSpPr>
        <p:spPr>
          <a:xfrm>
            <a:off x="4896028" y="3437356"/>
            <a:ext cx="3322626" cy="24622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מרבית ההגדרות שהוגדרו בדרישות העבודה נמצאות ב</a:t>
            </a:r>
            <a:r>
              <a:rPr lang="en-US" sz="1400" b="1" dirty="0">
                <a:solidFill>
                  <a:srgbClr val="FFFFFF"/>
                </a:solidFill>
              </a:rPr>
              <a:t>config</a:t>
            </a:r>
            <a:r>
              <a:rPr lang="he-IL" sz="1400" b="1" dirty="0">
                <a:solidFill>
                  <a:srgbClr val="FFFFFF"/>
                </a:solidFill>
              </a:rPr>
              <a:t> והן מגיעות מה</a:t>
            </a:r>
            <a:r>
              <a:rPr lang="en-US" sz="1400" b="1" dirty="0">
                <a:solidFill>
                  <a:srgbClr val="FFFFFF"/>
                </a:solidFill>
              </a:rPr>
              <a:t>main</a:t>
            </a:r>
            <a:r>
              <a:rPr lang="he-IL" sz="1400" b="1" dirty="0">
                <a:solidFill>
                  <a:srgbClr val="FFFFFF"/>
                </a:solidFill>
              </a:rPr>
              <a:t> כמו:</a:t>
            </a:r>
          </a:p>
          <a:p>
            <a:pPr marL="285750" indent="-2857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אתחול </a:t>
            </a:r>
            <a:r>
              <a:rPr lang="he-IL" sz="1400" b="1" dirty="0" err="1">
                <a:solidFill>
                  <a:srgbClr val="FFFFFF"/>
                </a:solidFill>
              </a:rPr>
              <a:t>הבלאנס</a:t>
            </a:r>
            <a:r>
              <a:rPr lang="he-IL" sz="1400" b="1" dirty="0">
                <a:solidFill>
                  <a:srgbClr val="FFFFFF"/>
                </a:solidFill>
              </a:rPr>
              <a:t> של הארנקים ל100.</a:t>
            </a:r>
          </a:p>
          <a:p>
            <a:pPr marL="285750" indent="-2857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יצירת ארנקים </a:t>
            </a:r>
            <a:r>
              <a:rPr lang="en-US" sz="1400" b="1" dirty="0">
                <a:solidFill>
                  <a:srgbClr val="FFFFFF"/>
                </a:solidFill>
              </a:rPr>
              <a:t>A-J</a:t>
            </a:r>
            <a:r>
              <a:rPr lang="he-IL" sz="1400" b="1" dirty="0">
                <a:solidFill>
                  <a:srgbClr val="FFFFFF"/>
                </a:solidFill>
              </a:rPr>
              <a:t> ויצירת כורים </a:t>
            </a:r>
            <a:r>
              <a:rPr lang="en-US" sz="1400" b="1" dirty="0">
                <a:solidFill>
                  <a:srgbClr val="FFFFFF"/>
                </a:solidFill>
              </a:rPr>
              <a:t>A-E</a:t>
            </a:r>
            <a:r>
              <a:rPr lang="he-IL" sz="1400" b="1" dirty="0">
                <a:solidFill>
                  <a:srgbClr val="FFFFFF"/>
                </a:solidFill>
              </a:rPr>
              <a:t>.</a:t>
            </a:r>
          </a:p>
          <a:p>
            <a:pPr marL="285750" indent="-2857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הגדרת כמות </a:t>
            </a:r>
            <a:r>
              <a:rPr lang="he-IL" sz="1400" b="1" dirty="0" err="1">
                <a:solidFill>
                  <a:srgbClr val="FFFFFF"/>
                </a:solidFill>
              </a:rPr>
              <a:t>הטרנזקציות</a:t>
            </a:r>
            <a:r>
              <a:rPr lang="he-IL" sz="1400" b="1" dirty="0">
                <a:solidFill>
                  <a:srgbClr val="FFFFFF"/>
                </a:solidFill>
              </a:rPr>
              <a:t> לבלוק כולל </a:t>
            </a:r>
            <a:r>
              <a:rPr lang="en-US" sz="1400" b="1" dirty="0" err="1">
                <a:solidFill>
                  <a:srgbClr val="FFFFFF"/>
                </a:solidFill>
              </a:rPr>
              <a:t>coinbase</a:t>
            </a:r>
            <a:r>
              <a:rPr lang="he-IL" sz="1400" b="1" dirty="0">
                <a:solidFill>
                  <a:srgbClr val="FFFFFF"/>
                </a:solidFill>
              </a:rPr>
              <a:t> ל50.</a:t>
            </a:r>
          </a:p>
          <a:p>
            <a:pPr marL="285750" indent="-2857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הגדרת העמלה ל2 מטבעות שישרפו.</a:t>
            </a:r>
          </a:p>
          <a:p>
            <a:pPr marL="285750" indent="-2857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והגדרת הטיפ לכורה ל3 מטבעות.</a:t>
            </a:r>
          </a:p>
          <a:p>
            <a:pPr marL="285750" indent="-2857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הגדרת התגמול על כרייה ל60.</a:t>
            </a:r>
          </a:p>
          <a:p>
            <a:pPr marL="285750" indent="-285750" algn="r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sz="1400" b="1" dirty="0">
                <a:solidFill>
                  <a:srgbClr val="FFFFFF"/>
                </a:solidFill>
              </a:rPr>
              <a:t>והגדרת ה</a:t>
            </a:r>
            <a:r>
              <a:rPr lang="en-US" sz="1400" b="1" dirty="0">
                <a:solidFill>
                  <a:srgbClr val="FFFFFF"/>
                </a:solidFill>
              </a:rPr>
              <a:t>hash</a:t>
            </a:r>
            <a:r>
              <a:rPr lang="he-IL" sz="1400" b="1" dirty="0">
                <a:solidFill>
                  <a:srgbClr val="FFFFFF"/>
                </a:solidFill>
              </a:rPr>
              <a:t> ההתחלתי ל</a:t>
            </a:r>
            <a:r>
              <a:rPr lang="en-US" sz="1400" b="1" dirty="0">
                <a:solidFill>
                  <a:srgbClr val="FFFFFF"/>
                </a:solidFill>
              </a:rPr>
              <a:t>42</a:t>
            </a:r>
            <a:r>
              <a:rPr lang="he-IL" sz="1400" b="1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4CDA7381-5F7D-489D-4396-6B24B49DB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3" y="3429000"/>
            <a:ext cx="4980417" cy="26301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891914E0-7DF3-EA6D-FEAD-B313E8D90C28}"/>
              </a:ext>
            </a:extLst>
          </p:cNvPr>
          <p:cNvSpPr txBox="1"/>
          <p:nvPr/>
        </p:nvSpPr>
        <p:spPr>
          <a:xfrm>
            <a:off x="6134100" y="1284082"/>
            <a:ext cx="2945437" cy="22467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 err="1">
                <a:solidFill>
                  <a:srgbClr val="FFFFFF"/>
                </a:solidFill>
              </a:rPr>
              <a:t>הבלוקצ׳יין</a:t>
            </a:r>
            <a:r>
              <a:rPr lang="he-IL" sz="1400" b="1" dirty="0">
                <a:solidFill>
                  <a:srgbClr val="FFFFFF"/>
                </a:solidFill>
              </a:rPr>
              <a:t> משתמש ב</a:t>
            </a:r>
            <a:r>
              <a:rPr lang="en" sz="1400" b="1" dirty="0" err="1">
                <a:solidFill>
                  <a:srgbClr val="FFFFFF"/>
                </a:solidFill>
              </a:rPr>
              <a:t>BalancesState</a:t>
            </a:r>
            <a:r>
              <a:rPr lang="he-IL" sz="1400" b="1" dirty="0">
                <a:solidFill>
                  <a:srgbClr val="FFFFFF"/>
                </a:solidFill>
              </a:rPr>
              <a:t> כדי לעקוב אחר התנועות בין הארנקים, בשביל להדפיס תוצרת המאזן של כל ארנק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he-IL" sz="1400" b="1" dirty="0">
                <a:solidFill>
                  <a:srgbClr val="FFFFFF"/>
                </a:solidFill>
              </a:rPr>
              <a:t>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1400" b="1" dirty="0" err="1">
                <a:solidFill>
                  <a:srgbClr val="FFFFFF"/>
                </a:solidFill>
              </a:rPr>
              <a:t>הבלוקצ׳יין</a:t>
            </a:r>
            <a:r>
              <a:rPr lang="he-IL" sz="1400" b="1" dirty="0">
                <a:solidFill>
                  <a:srgbClr val="FFFFFF"/>
                </a:solidFill>
              </a:rPr>
              <a:t> משתמש ב</a:t>
            </a:r>
            <a:r>
              <a:rPr lang="en" sz="1400" b="1" dirty="0">
                <a:solidFill>
                  <a:srgbClr val="FFFFFF"/>
                </a:solidFill>
              </a:rPr>
              <a:t>Ledger</a:t>
            </a:r>
            <a:r>
              <a:rPr lang="he-IL" sz="1400" b="1" dirty="0">
                <a:solidFill>
                  <a:srgbClr val="FFFFFF"/>
                </a:solidFill>
              </a:rPr>
              <a:t> כדי לעקוב אחר שינויים כלליים ברשת כמו יצירת מטבעות, שריפת מטבעות וכמות כוללת של מטבעות.</a:t>
            </a:r>
            <a:endParaRPr lang="en" sz="1400" b="1" dirty="0">
              <a:solidFill>
                <a:srgbClr val="FFFFFF"/>
              </a:solidFill>
            </a:endParaRP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67C2377E-1A2C-9788-9581-0513EA25431A}"/>
              </a:ext>
            </a:extLst>
          </p:cNvPr>
          <p:cNvSpPr txBox="1"/>
          <p:nvPr/>
        </p:nvSpPr>
        <p:spPr>
          <a:xfrm>
            <a:off x="1262695" y="3173988"/>
            <a:ext cx="258395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400" b="1" dirty="0" err="1">
                <a:solidFill>
                  <a:srgbClr val="FFFFFF"/>
                </a:solidFill>
              </a:rPr>
              <a:t>קונפיגורציית</a:t>
            </a:r>
            <a:r>
              <a:rPr lang="he-IL" sz="1400" b="1" dirty="0">
                <a:solidFill>
                  <a:srgbClr val="FFFFFF"/>
                </a:solidFill>
              </a:rPr>
              <a:t> הדרישות מה</a:t>
            </a:r>
            <a:r>
              <a:rPr lang="en-US" sz="1400" b="1" dirty="0">
                <a:solidFill>
                  <a:srgbClr val="FFFFFF"/>
                </a:solidFill>
              </a:rPr>
              <a:t>main</a:t>
            </a:r>
            <a:endParaRPr lang="he-IL" sz="1400" b="1" dirty="0">
              <a:solidFill>
                <a:srgbClr val="FFFFFF"/>
              </a:solidFill>
            </a:endParaRPr>
          </a:p>
        </p:txBody>
      </p:sp>
      <p:pic>
        <p:nvPicPr>
          <p:cNvPr id="23" name="תמונה 22">
            <a:extLst>
              <a:ext uri="{FF2B5EF4-FFF2-40B4-BE49-F238E27FC236}">
                <a16:creationId xmlns:a16="http://schemas.microsoft.com/office/drawing/2014/main" id="{C86CEDBE-D069-6FD7-6E2B-9CA81C1F5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885" y="5304262"/>
            <a:ext cx="3257026" cy="13558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E28C0FE1-F42A-939F-0D4F-877BDFD9E996}"/>
              </a:ext>
            </a:extLst>
          </p:cNvPr>
          <p:cNvSpPr txBox="1"/>
          <p:nvPr/>
        </p:nvSpPr>
        <p:spPr>
          <a:xfrm>
            <a:off x="5324999" y="6059107"/>
            <a:ext cx="2613536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ctr" defTabSz="457200" rtl="1" eaLnBrk="1" latinLnBrk="0" hangingPunct="1"/>
            <a:r>
              <a:rPr lang="he-IL" sz="1400" b="1" dirty="0">
                <a:solidFill>
                  <a:srgbClr val="FFFFFF"/>
                </a:solidFill>
              </a:rPr>
              <a:t>אתחול כל ה</a:t>
            </a:r>
            <a:r>
              <a:rPr lang="en-US" sz="1400" b="1" dirty="0">
                <a:solidFill>
                  <a:srgbClr val="FFFFFF"/>
                </a:solidFill>
              </a:rPr>
              <a:t>balance</a:t>
            </a:r>
            <a:r>
              <a:rPr lang="he-IL" sz="1400" b="1" dirty="0">
                <a:solidFill>
                  <a:srgbClr val="FFFFFF"/>
                </a:solidFill>
              </a:rPr>
              <a:t> של כל הארנקים ל100 על בסיס </a:t>
            </a:r>
            <a:r>
              <a:rPr lang="he-IL" sz="1400" b="1" dirty="0" err="1">
                <a:solidFill>
                  <a:srgbClr val="FFFFFF"/>
                </a:solidFill>
              </a:rPr>
              <a:t>הקונפיג</a:t>
            </a:r>
            <a:r>
              <a:rPr lang="he-IL" sz="1400" b="1" dirty="0">
                <a:solidFill>
                  <a:srgbClr val="FFFFFF"/>
                </a:solidFill>
              </a:rPr>
              <a:t> שהוגדר ב</a:t>
            </a:r>
            <a:r>
              <a:rPr lang="en-US" sz="1400" b="1" dirty="0">
                <a:solidFill>
                  <a:srgbClr val="FFFFFF"/>
                </a:solidFill>
              </a:rPr>
              <a:t>main</a:t>
            </a:r>
            <a:endParaRPr lang="he-IL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28441-B1F2-CAC6-C82B-37C3AE19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F78F-1298-E194-8896-E511DBCB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b="1" dirty="0">
                <a:solidFill>
                  <a:srgbClr val="FFFFFF"/>
                </a:solidFill>
              </a:rPr>
              <a:t>כרייה – יצירת מטבעות עמלות ושירפה</a:t>
            </a:r>
            <a:endParaRPr sz="3600" b="1" dirty="0">
              <a:solidFill>
                <a:srgbClr val="FFFFFF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5F0F100-A5DE-9192-DDFF-32D335A9E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96" y="1417638"/>
            <a:ext cx="4752769" cy="34771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4DF52DD6-51D9-502A-BCA7-8B1DF540717F}"/>
              </a:ext>
            </a:extLst>
          </p:cNvPr>
          <p:cNvSpPr txBox="1"/>
          <p:nvPr/>
        </p:nvSpPr>
        <p:spPr>
          <a:xfrm>
            <a:off x="69193" y="1156373"/>
            <a:ext cx="3469454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defTabSz="457200" rtl="0" eaLnBrk="1" latinLnBrk="0" hangingPunct="1"/>
            <a:r>
              <a:rPr lang="en-US" sz="1400" b="1" dirty="0">
                <a:solidFill>
                  <a:srgbClr val="FFFFFF"/>
                </a:solidFill>
              </a:rPr>
              <a:t>Miner – mine block</a:t>
            </a:r>
            <a:endParaRPr lang="he-IL" sz="1400" b="1" dirty="0">
              <a:solidFill>
                <a:srgbClr val="FFFFFF"/>
              </a:solidFill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5A52BEF0-C6B5-42D9-D8AA-B993B1A19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912" y="2852034"/>
            <a:ext cx="5047888" cy="37997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17710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A7029-62D4-086A-C12A-AFBC52F5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EBE08-9362-F072-F144-95CFB57D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b="1" dirty="0">
                <a:solidFill>
                  <a:srgbClr val="FFFFFF"/>
                </a:solidFill>
              </a:rPr>
              <a:t>כרייה – יצירת מטבעות עמלות ושירפה</a:t>
            </a:r>
            <a:endParaRPr sz="3600" b="1" dirty="0">
              <a:solidFill>
                <a:srgbClr val="FFFFFF"/>
              </a:solidFill>
            </a:endParaRPr>
          </a:p>
        </p:txBody>
      </p:sp>
      <p:pic>
        <p:nvPicPr>
          <p:cNvPr id="29" name="תמונה 28">
            <a:extLst>
              <a:ext uri="{FF2B5EF4-FFF2-40B4-BE49-F238E27FC236}">
                <a16:creationId xmlns:a16="http://schemas.microsoft.com/office/drawing/2014/main" id="{40BFF72C-3B99-9DC1-E0A8-9C4B8E659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0" y="1146971"/>
            <a:ext cx="6539454" cy="55563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5FABA596-5377-4AA1-0AD9-631D5081ABE6}"/>
              </a:ext>
            </a:extLst>
          </p:cNvPr>
          <p:cNvSpPr txBox="1"/>
          <p:nvPr/>
        </p:nvSpPr>
        <p:spPr>
          <a:xfrm>
            <a:off x="6763923" y="5620894"/>
            <a:ext cx="2428606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200" b="1" dirty="0">
                <a:solidFill>
                  <a:srgbClr val="FFFFFF"/>
                </a:solidFill>
              </a:rPr>
              <a:t>תיעוד </a:t>
            </a:r>
            <a:r>
              <a:rPr lang="he-IL" sz="1200" b="1" dirty="0" err="1">
                <a:solidFill>
                  <a:srgbClr val="FFFFFF"/>
                </a:solidFill>
              </a:rPr>
              <a:t>הטרנזקציה</a:t>
            </a:r>
            <a:r>
              <a:rPr lang="he-IL" sz="1200" b="1" dirty="0">
                <a:solidFill>
                  <a:srgbClr val="FFFFFF"/>
                </a:solidFill>
              </a:rPr>
              <a:t> והעמלה שנשרפת</a:t>
            </a:r>
            <a:endParaRPr lang="en" sz="1200" b="1" dirty="0">
              <a:solidFill>
                <a:srgbClr val="FFFFFF"/>
              </a:solidFill>
            </a:endParaRPr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F4A89F2A-4CEC-E84D-A15D-4FB935D300DB}"/>
              </a:ext>
            </a:extLst>
          </p:cNvPr>
          <p:cNvSpPr txBox="1"/>
          <p:nvPr/>
        </p:nvSpPr>
        <p:spPr>
          <a:xfrm>
            <a:off x="5335259" y="2288136"/>
            <a:ext cx="3803898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1200" b="1" dirty="0">
                <a:solidFill>
                  <a:srgbClr val="FFFFFF"/>
                </a:solidFill>
              </a:rPr>
              <a:t>המשך הפונקציה – יצירת </a:t>
            </a:r>
            <a:r>
              <a:rPr lang="he-IL" sz="1200" b="1" dirty="0" err="1">
                <a:solidFill>
                  <a:srgbClr val="FFFFFF"/>
                </a:solidFill>
              </a:rPr>
              <a:t>הטרנזקציה</a:t>
            </a:r>
            <a:r>
              <a:rPr lang="he-IL" sz="1200" b="1" dirty="0">
                <a:solidFill>
                  <a:srgbClr val="FFFFFF"/>
                </a:solidFill>
              </a:rPr>
              <a:t> של הכורה עם הטיפים</a:t>
            </a:r>
            <a:endParaRPr lang="en" sz="1200" b="1" dirty="0">
              <a:solidFill>
                <a:srgbClr val="FFFFFF"/>
              </a:solidFill>
            </a:endParaRPr>
          </a:p>
        </p:txBody>
      </p:sp>
      <p:pic>
        <p:nvPicPr>
          <p:cNvPr id="27" name="תמונה 26">
            <a:extLst>
              <a:ext uri="{FF2B5EF4-FFF2-40B4-BE49-F238E27FC236}">
                <a16:creationId xmlns:a16="http://schemas.microsoft.com/office/drawing/2014/main" id="{262F97A6-94B2-DD74-F95D-194E86ABE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599" y="2524975"/>
            <a:ext cx="4152431" cy="15345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8" name="תמונה 27">
            <a:extLst>
              <a:ext uri="{FF2B5EF4-FFF2-40B4-BE49-F238E27FC236}">
                <a16:creationId xmlns:a16="http://schemas.microsoft.com/office/drawing/2014/main" id="{4508401B-99AB-C357-4988-A1FF6CF37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33" y="5860108"/>
            <a:ext cx="4802953" cy="7945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39A0745B-B914-A2FB-F699-352BAD50ECBB}"/>
              </a:ext>
            </a:extLst>
          </p:cNvPr>
          <p:cNvCxnSpPr>
            <a:cxnSpLocks/>
          </p:cNvCxnSpPr>
          <p:nvPr/>
        </p:nvCxnSpPr>
        <p:spPr>
          <a:xfrm>
            <a:off x="2431622" y="2052589"/>
            <a:ext cx="2563643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מחבר ישר 30">
            <a:extLst>
              <a:ext uri="{FF2B5EF4-FFF2-40B4-BE49-F238E27FC236}">
                <a16:creationId xmlns:a16="http://schemas.microsoft.com/office/drawing/2014/main" id="{2182BB3C-1EC2-7275-E11A-418D1C07264F}"/>
              </a:ext>
            </a:extLst>
          </p:cNvPr>
          <p:cNvCxnSpPr/>
          <p:nvPr/>
        </p:nvCxnSpPr>
        <p:spPr>
          <a:xfrm flipV="1">
            <a:off x="2431622" y="2055009"/>
            <a:ext cx="0" cy="139431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תיבת טקסט 31">
            <a:extLst>
              <a:ext uri="{FF2B5EF4-FFF2-40B4-BE49-F238E27FC236}">
                <a16:creationId xmlns:a16="http://schemas.microsoft.com/office/drawing/2014/main" id="{DFFB047C-8748-9C39-B879-4695C2252697}"/>
              </a:ext>
            </a:extLst>
          </p:cNvPr>
          <p:cNvSpPr txBox="1"/>
          <p:nvPr/>
        </p:nvSpPr>
        <p:spPr>
          <a:xfrm>
            <a:off x="5046539" y="1411289"/>
            <a:ext cx="4009491" cy="769441"/>
          </a:xfrm>
          <a:prstGeom prst="rect">
            <a:avLst/>
          </a:prstGeom>
          <a:solidFill>
            <a:srgbClr val="1E1E1E"/>
          </a:solidFill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pPr algn="ctr" rtl="1"/>
            <a:r>
              <a:rPr lang="he-IL" sz="1100" b="1" dirty="0">
                <a:solidFill>
                  <a:srgbClr val="FFFFFF"/>
                </a:solidFill>
              </a:rPr>
              <a:t>כרייה של מקסימום 50 בלוקים לפי שהוגדר </a:t>
            </a:r>
            <a:r>
              <a:rPr lang="he-IL" sz="1100" b="1" dirty="0" err="1">
                <a:solidFill>
                  <a:srgbClr val="FFFFFF"/>
                </a:solidFill>
              </a:rPr>
              <a:t>בקונפיג</a:t>
            </a:r>
            <a:r>
              <a:rPr lang="he-IL" sz="1100" b="1" dirty="0">
                <a:solidFill>
                  <a:srgbClr val="FFFFFF"/>
                </a:solidFill>
              </a:rPr>
              <a:t> ב</a:t>
            </a:r>
            <a:r>
              <a:rPr lang="en-US" sz="1100" b="1" dirty="0">
                <a:solidFill>
                  <a:srgbClr val="FFFFFF"/>
                </a:solidFill>
              </a:rPr>
              <a:t>main</a:t>
            </a:r>
            <a:r>
              <a:rPr lang="he-IL" sz="1100" b="1" dirty="0">
                <a:solidFill>
                  <a:srgbClr val="FFFFFF"/>
                </a:solidFill>
              </a:rPr>
              <a:t> בשדה </a:t>
            </a:r>
            <a:r>
              <a:rPr lang="en" sz="1100" b="1" dirty="0" err="1">
                <a:solidFill>
                  <a:srgbClr val="FFFFFF"/>
                </a:solidFill>
              </a:rPr>
              <a:t>transactionsPerBlockNoCoinbase</a:t>
            </a:r>
            <a:r>
              <a:rPr lang="he-IL" sz="1100" b="1" dirty="0">
                <a:solidFill>
                  <a:srgbClr val="FFFFFF"/>
                </a:solidFill>
              </a:rPr>
              <a:t>, מדלג על </a:t>
            </a:r>
            <a:r>
              <a:rPr lang="he-IL" sz="1100" b="1" dirty="0" err="1">
                <a:solidFill>
                  <a:srgbClr val="FFFFFF"/>
                </a:solidFill>
              </a:rPr>
              <a:t>טרנזקציות</a:t>
            </a:r>
            <a:r>
              <a:rPr lang="he-IL" sz="1100" b="1" dirty="0">
                <a:solidFill>
                  <a:srgbClr val="FFFFFF"/>
                </a:solidFill>
              </a:rPr>
              <a:t> לא תקינות ואם אין עוד מספיק </a:t>
            </a:r>
            <a:r>
              <a:rPr lang="he-IL" sz="1100" b="1" dirty="0" err="1">
                <a:solidFill>
                  <a:srgbClr val="FFFFFF"/>
                </a:solidFill>
              </a:rPr>
              <a:t>טרנזקציות</a:t>
            </a:r>
            <a:r>
              <a:rPr lang="he-IL" sz="1100" b="1" dirty="0">
                <a:solidFill>
                  <a:srgbClr val="FFFFFF"/>
                </a:solidFill>
              </a:rPr>
              <a:t> במאגר יצא בלוק קצר יותר באמצעות </a:t>
            </a:r>
            <a:r>
              <a:rPr lang="en" sz="1100" b="1" dirty="0" err="1">
                <a:solidFill>
                  <a:srgbClr val="FFFFFF"/>
                </a:solidFill>
              </a:rPr>
              <a:t>TransactionProcessor</a:t>
            </a:r>
            <a:endParaRPr lang="en" sz="1100" b="1" dirty="0">
              <a:solidFill>
                <a:srgbClr val="FFFFFF"/>
              </a:solidFill>
            </a:endParaRPr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FD1A9206-0296-B416-42C0-3810CB7E58EF}"/>
              </a:ext>
            </a:extLst>
          </p:cNvPr>
          <p:cNvSpPr txBox="1"/>
          <p:nvPr/>
        </p:nvSpPr>
        <p:spPr>
          <a:xfrm>
            <a:off x="5597969" y="4332423"/>
            <a:ext cx="3278478" cy="938719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 algn="ctr" rtl="1"/>
            <a:r>
              <a:rPr lang="he-IL" sz="1100" b="1" dirty="0" err="1">
                <a:highlight>
                  <a:srgbClr val="FFFF00"/>
                </a:highlight>
              </a:rPr>
              <a:t>בטרנזקציה</a:t>
            </a:r>
            <a:r>
              <a:rPr lang="he-IL" sz="1100" b="1" dirty="0">
                <a:highlight>
                  <a:srgbClr val="FFFF00"/>
                </a:highlight>
              </a:rPr>
              <a:t> מוגדר הסכום העמלה והטיפ, כך כאשר </a:t>
            </a:r>
            <a:r>
              <a:rPr lang="he-IL" sz="1100" b="1" dirty="0" err="1">
                <a:highlight>
                  <a:srgbClr val="FFFF00"/>
                </a:highlight>
              </a:rPr>
              <a:t>הטרנזקציה</a:t>
            </a:r>
            <a:r>
              <a:rPr lang="he-IL" sz="1100" b="1" dirty="0">
                <a:highlight>
                  <a:srgbClr val="FFFF00"/>
                </a:highlight>
              </a:rPr>
              <a:t> נרשמת מחושב הסכום שכולל את </a:t>
            </a:r>
            <a:r>
              <a:rPr lang="he-IL" sz="1100" b="1" dirty="0" err="1">
                <a:highlight>
                  <a:srgbClr val="FFFF00"/>
                </a:highlight>
              </a:rPr>
              <a:t>הכל</a:t>
            </a:r>
            <a:r>
              <a:rPr lang="he-IL" sz="1100" b="1" dirty="0">
                <a:highlight>
                  <a:srgbClr val="FFFF00"/>
                </a:highlight>
              </a:rPr>
              <a:t> והוא זה שנלקח מהשולח, המקבל מקבל את הסכום הבסיסי והכורה מקבל את כל הטיפים.</a:t>
            </a:r>
            <a:br>
              <a:rPr lang="en-US" sz="1100" b="1" dirty="0">
                <a:highlight>
                  <a:srgbClr val="FFFF00"/>
                </a:highlight>
              </a:rPr>
            </a:br>
            <a:r>
              <a:rPr lang="he-IL" sz="1100" b="1" dirty="0">
                <a:highlight>
                  <a:srgbClr val="FFFF00"/>
                </a:highlight>
              </a:rPr>
              <a:t>כך יוצא שהעמלה נשרפת.</a:t>
            </a:r>
            <a:endParaRPr lang="en" sz="1100" b="1" dirty="0">
              <a:highlight>
                <a:srgbClr val="FFFF00"/>
              </a:highlight>
            </a:endParaRPr>
          </a:p>
        </p:txBody>
      </p:sp>
      <p:pic>
        <p:nvPicPr>
          <p:cNvPr id="34" name="תמונה 33">
            <a:extLst>
              <a:ext uri="{FF2B5EF4-FFF2-40B4-BE49-F238E27FC236}">
                <a16:creationId xmlns:a16="http://schemas.microsoft.com/office/drawing/2014/main" id="{25C37274-1FE6-3177-963F-D4F06EFDC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61493" y="5516562"/>
            <a:ext cx="53975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60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9D673-738B-3860-3884-F3AE8F92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7846-129F-9212-7AA0-23AEB511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b="1" dirty="0">
                <a:solidFill>
                  <a:srgbClr val="FFFFFF"/>
                </a:solidFill>
              </a:rPr>
              <a:t>הדפסת תוצרת המאזן של כל ארנק ופרטים סופיים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3BB2DCA1-F117-683D-AB5E-8B0E4E3EB199}"/>
              </a:ext>
            </a:extLst>
          </p:cNvPr>
          <p:cNvSpPr txBox="1"/>
          <p:nvPr/>
        </p:nvSpPr>
        <p:spPr>
          <a:xfrm>
            <a:off x="265151" y="1532858"/>
            <a:ext cx="2428606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l" defTabSz="457200" rtl="0" eaLnBrk="1" latinLnBrk="0" hangingPunct="1"/>
            <a:r>
              <a:rPr lang="en-US" sz="1200" b="1" dirty="0">
                <a:solidFill>
                  <a:srgbClr val="FFFFFF"/>
                </a:solidFill>
              </a:rPr>
              <a:t>From Blockchain</a:t>
            </a:r>
            <a:endParaRPr lang="en" sz="1200" b="1" dirty="0">
              <a:solidFill>
                <a:srgbClr val="FFFFFF"/>
              </a:solidFill>
            </a:endParaRPr>
          </a:p>
        </p:txBody>
      </p:sp>
      <p:pic>
        <p:nvPicPr>
          <p:cNvPr id="34" name="תמונה 33">
            <a:extLst>
              <a:ext uri="{FF2B5EF4-FFF2-40B4-BE49-F238E27FC236}">
                <a16:creationId xmlns:a16="http://schemas.microsoft.com/office/drawing/2014/main" id="{BEBC90B4-5DD3-5EE8-BE81-8FCC6057B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37" y="1774703"/>
            <a:ext cx="5397500" cy="1066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68F11600-6F8F-74E3-ADF9-95BCFA201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37" y="3198568"/>
            <a:ext cx="4698469" cy="24397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4F0E862-137C-26A4-C19C-D2682F6FC7B0}"/>
              </a:ext>
            </a:extLst>
          </p:cNvPr>
          <p:cNvSpPr txBox="1"/>
          <p:nvPr/>
        </p:nvSpPr>
        <p:spPr>
          <a:xfrm>
            <a:off x="280765" y="2944848"/>
            <a:ext cx="5963516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From </a:t>
            </a:r>
            <a:r>
              <a:rPr lang="en" sz="1200" b="1" dirty="0">
                <a:solidFill>
                  <a:srgbClr val="FFFFFF"/>
                </a:solidFill>
              </a:rPr>
              <a:t>Ledger</a:t>
            </a:r>
            <a:r>
              <a:rPr lang="en-US" sz="1200" b="1" dirty="0">
                <a:solidFill>
                  <a:srgbClr val="FFFFFF"/>
                </a:solidFill>
              </a:rPr>
              <a:t> – </a:t>
            </a:r>
            <a:r>
              <a:rPr lang="he-IL" sz="1200" b="1" dirty="0">
                <a:solidFill>
                  <a:srgbClr val="FFFFFF"/>
                </a:solidFill>
              </a:rPr>
              <a:t>מדפיס את הפרטים על כל הרשת, כמה מטבעות נכרו נשרפו וכמה סה״כ </a:t>
            </a:r>
            <a:endParaRPr lang="en" sz="1200" b="1" dirty="0">
              <a:solidFill>
                <a:srgbClr val="FFFFFF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219F9D5E-CB98-36F3-C06A-99B0327F5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37" y="5990234"/>
            <a:ext cx="2333620" cy="5931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CD62A8D-D3BA-C789-0DC4-F1ADC6C7B701}"/>
              </a:ext>
            </a:extLst>
          </p:cNvPr>
          <p:cNvSpPr txBox="1"/>
          <p:nvPr/>
        </p:nvSpPr>
        <p:spPr>
          <a:xfrm>
            <a:off x="268409" y="5753561"/>
            <a:ext cx="3496283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From </a:t>
            </a:r>
            <a:r>
              <a:rPr lang="en" sz="1200" b="1" dirty="0" err="1">
                <a:solidFill>
                  <a:srgbClr val="FFFFFF"/>
                </a:solidFill>
              </a:rPr>
              <a:t>BalancesState</a:t>
            </a:r>
            <a:r>
              <a:rPr lang="en-US" sz="1200" b="1" dirty="0">
                <a:solidFill>
                  <a:srgbClr val="FFFFFF"/>
                </a:solidFill>
              </a:rPr>
              <a:t> – </a:t>
            </a:r>
            <a:r>
              <a:rPr lang="he-IL" sz="1200" b="1" dirty="0">
                <a:solidFill>
                  <a:srgbClr val="FFFFFF"/>
                </a:solidFill>
              </a:rPr>
              <a:t>מדפיס את המאזן של כל ארנק</a:t>
            </a:r>
            <a:endParaRPr lang="en" sz="1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344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1165</Words>
  <Application>Microsoft Macintosh PowerPoint</Application>
  <PresentationFormat>‫הצגה על המסך (4:3)</PresentationFormat>
  <Paragraphs>113</Paragraphs>
  <Slides>14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8" baseType="lpstr">
      <vt:lpstr>Arial Unicode MS</vt:lpstr>
      <vt:lpstr>Arial</vt:lpstr>
      <vt:lpstr>Calibri</vt:lpstr>
      <vt:lpstr>Office Theme</vt:lpstr>
      <vt:lpstr>עבודת בית 1 – בלוקצ'יין נוסח סולנה</vt:lpstr>
      <vt:lpstr>שקף דרישות – מה מומש ומה לא</vt:lpstr>
      <vt:lpstr>הוראות התקנה והרצה</vt:lpstr>
      <vt:lpstr>דוגמא לפלט</vt:lpstr>
      <vt:lpstr>תמונת מצב – קבצי הפרויקט ותפקידם</vt:lpstr>
      <vt:lpstr>Block</vt:lpstr>
      <vt:lpstr>Bloom Filter</vt:lpstr>
      <vt:lpstr>Merkle Tree</vt:lpstr>
      <vt:lpstr>Blockchain – קבלת הוכחת טרנזקציה</vt:lpstr>
      <vt:lpstr>Blockchain – הדגמת הוכחת טרנזקציה</vt:lpstr>
      <vt:lpstr>Blockchain</vt:lpstr>
      <vt:lpstr>כרייה – יצירת מטבעות עמלות ושירפה</vt:lpstr>
      <vt:lpstr>כרייה – יצירת מטבעות עמלות ושירפה</vt:lpstr>
      <vt:lpstr>הדפסת תוצרת המאזן של כל ארנק ופרטים סופיים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Ofir Krisple</cp:lastModifiedBy>
  <cp:revision>33</cp:revision>
  <dcterms:created xsi:type="dcterms:W3CDTF">2013-01-27T09:14:16Z</dcterms:created>
  <dcterms:modified xsi:type="dcterms:W3CDTF">2025-12-09T19:09:07Z</dcterms:modified>
  <cp:category/>
</cp:coreProperties>
</file>