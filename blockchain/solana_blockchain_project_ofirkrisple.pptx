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2" r:id="rId5"/>
    <p:sldId id="259" r:id="rId6"/>
    <p:sldId id="264" r:id="rId7"/>
    <p:sldId id="261" r:id="rId8"/>
    <p:sldId id="263" r:id="rId9"/>
    <p:sldId id="273" r:id="rId10"/>
    <p:sldId id="274" r:id="rId11"/>
    <p:sldId id="265" r:id="rId12"/>
    <p:sldId id="275" r:id="rId13"/>
    <p:sldId id="276" r:id="rId14"/>
    <p:sldId id="278" r:id="rId15"/>
    <p:sldId id="27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2"/>
    <p:restoredTop sz="96824"/>
  </p:normalViewPr>
  <p:slideViewPr>
    <p:cSldViewPr snapToGrid="0" snapToObjects="1">
      <p:cViewPr>
        <p:scale>
          <a:sx n="135" d="100"/>
          <a:sy n="135" d="100"/>
        </p:scale>
        <p:origin x="90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rtl="1"/>
            <a:r>
              <a:rPr sz="4400" b="1" dirty="0" err="1">
                <a:solidFill>
                  <a:srgbClr val="FFFFFF"/>
                </a:solidFill>
              </a:rPr>
              <a:t>עבודת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בית</a:t>
            </a:r>
            <a:r>
              <a:rPr sz="4400" b="1" dirty="0">
                <a:solidFill>
                  <a:srgbClr val="FFFFFF"/>
                </a:solidFill>
              </a:rPr>
              <a:t> 1 – </a:t>
            </a:r>
            <a:r>
              <a:rPr sz="4400" b="1" dirty="0" err="1">
                <a:solidFill>
                  <a:srgbClr val="FFFFFF"/>
                </a:solidFill>
              </a:rPr>
              <a:t>בלוקצ'יין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נוסח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סולנה</a:t>
            </a:r>
            <a:endParaRPr sz="4400" b="1" dirty="0">
              <a:solidFill>
                <a:srgbClr val="FFFFFF"/>
              </a:solidFill>
            </a:endParaRPr>
          </a:p>
        </p:txBody>
      </p:sp>
      <p:sp>
        <p:nvSpPr>
          <p:cNvPr id="5" name="כותרת משנה 4">
            <a:extLst>
              <a:ext uri="{FF2B5EF4-FFF2-40B4-BE49-F238E27FC236}">
                <a16:creationId xmlns:a16="http://schemas.microsoft.com/office/drawing/2014/main" id="{FB1ADA52-5A83-5D25-0CEE-26835EB9DA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0" indent="0" algn="ctr" defTabSz="457200" rtl="1" eaLnBrk="1" latinLnBrk="0" hangingPunct="1">
              <a:spcBef>
                <a:spcPct val="20000"/>
              </a:spcBef>
              <a:buFont typeface="Arial"/>
              <a:buNone/>
            </a:pPr>
            <a:r>
              <a:rPr lang="he-IL" sz="2400" dirty="0"/>
              <a:t>אופיר קריספל - 207455791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>
                <a:solidFill>
                  <a:srgbClr val="FFFFFF"/>
                </a:solidFill>
              </a:rPr>
              <a:t>שקף</a:t>
            </a:r>
            <a:r>
              <a:rPr sz="4000" b="1" dirty="0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דרישות</a:t>
            </a:r>
            <a:r>
              <a:rPr sz="4000" b="1" dirty="0">
                <a:solidFill>
                  <a:srgbClr val="FFFFFF"/>
                </a:solidFill>
              </a:rPr>
              <a:t> – </a:t>
            </a:r>
            <a:r>
              <a:rPr sz="4000" b="1" dirty="0" err="1">
                <a:solidFill>
                  <a:srgbClr val="FFFFFF"/>
                </a:solidFill>
              </a:rPr>
              <a:t>מה</a:t>
            </a:r>
            <a:r>
              <a:rPr sz="4000" b="1" dirty="0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מומש</a:t>
            </a:r>
            <a:r>
              <a:rPr sz="4000" b="1" dirty="0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ומה</a:t>
            </a:r>
            <a:r>
              <a:rPr sz="4000" b="1" dirty="0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לא</a:t>
            </a:r>
            <a:endParaRPr sz="4000" b="1" dirty="0"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r" rtl="1"/>
            <a:r>
              <a:rPr sz="2400" dirty="0" err="1">
                <a:solidFill>
                  <a:srgbClr val="E6E6E6"/>
                </a:solidFill>
              </a:rPr>
              <a:t>מטלות</a:t>
            </a:r>
            <a:r>
              <a:rPr sz="2400" dirty="0">
                <a:solidFill>
                  <a:srgbClr val="E6E6E6"/>
                </a:solidFill>
              </a:rPr>
              <a:t> </a:t>
            </a:r>
            <a:r>
              <a:rPr sz="2400" dirty="0" err="1">
                <a:solidFill>
                  <a:srgbClr val="E6E6E6"/>
                </a:solidFill>
              </a:rPr>
              <a:t>שמומשו</a:t>
            </a:r>
            <a:r>
              <a:rPr sz="2400" dirty="0">
                <a:solidFill>
                  <a:srgbClr val="E6E6E6"/>
                </a:solidFill>
              </a:rPr>
              <a:t>:</a:t>
            </a:r>
            <a:endParaRPr lang="he-IL" sz="2400" dirty="0">
              <a:solidFill>
                <a:srgbClr val="E6E6E6"/>
              </a:solidFill>
            </a:endParaRPr>
          </a:p>
          <a:p>
            <a:pPr lvl="1" algn="r" rtl="1"/>
            <a:r>
              <a:rPr lang="en" sz="1400" dirty="0" err="1">
                <a:solidFill>
                  <a:srgbClr val="E6E6E6"/>
                </a:solidFill>
              </a:rPr>
              <a:t>BloomWrapper</a:t>
            </a:r>
            <a:r>
              <a:rPr lang="he-IL" sz="1400" dirty="0">
                <a:solidFill>
                  <a:srgbClr val="E6E6E6"/>
                </a:solidFill>
              </a:rPr>
              <a:t> – מימוש מחלקה עוטפת לספריית </a:t>
            </a:r>
            <a:r>
              <a:rPr lang="en" sz="1400" dirty="0">
                <a:solidFill>
                  <a:srgbClr val="E6E6E6"/>
                </a:solidFill>
              </a:rPr>
              <a:t>bloom-filters</a:t>
            </a:r>
            <a:r>
              <a:rPr lang="he-IL" sz="1400" dirty="0">
                <a:solidFill>
                  <a:srgbClr val="E6E6E6"/>
                </a:solidFill>
              </a:rPr>
              <a:t>.</a:t>
            </a:r>
          </a:p>
          <a:p>
            <a:pPr lvl="1" algn="r" rtl="1"/>
            <a:r>
              <a:rPr lang="en" sz="1400" dirty="0" err="1">
                <a:solidFill>
                  <a:srgbClr val="E6E6E6"/>
                </a:solidFill>
              </a:rPr>
              <a:t>MerkleWrapper</a:t>
            </a:r>
            <a:r>
              <a:rPr lang="he-IL" sz="1400" dirty="0">
                <a:solidFill>
                  <a:srgbClr val="E6E6E6"/>
                </a:solidFill>
              </a:rPr>
              <a:t> - מימוש מחלקה עוטפת לספריית </a:t>
            </a:r>
            <a:r>
              <a:rPr lang="en" sz="1400" dirty="0">
                <a:solidFill>
                  <a:srgbClr val="E6E6E6"/>
                </a:solidFill>
              </a:rPr>
              <a:t>bloom-filters</a:t>
            </a:r>
            <a:r>
              <a:rPr lang="he-IL" sz="1400" dirty="0">
                <a:solidFill>
                  <a:srgbClr val="E6E6E6"/>
                </a:solidFill>
              </a:rPr>
              <a:t>.</a:t>
            </a:r>
          </a:p>
          <a:p>
            <a:pPr lvl="1" algn="r" rtl="1"/>
            <a:r>
              <a:rPr lang="he-IL" sz="1400" dirty="0">
                <a:solidFill>
                  <a:srgbClr val="E6E6E6"/>
                </a:solidFill>
              </a:rPr>
              <a:t>בניית </a:t>
            </a:r>
            <a:r>
              <a:rPr lang="he-IL" sz="1400" dirty="0" err="1">
                <a:solidFill>
                  <a:srgbClr val="E6E6E6"/>
                </a:solidFill>
              </a:rPr>
              <a:t>בלוקצ׳יין</a:t>
            </a:r>
            <a:r>
              <a:rPr lang="he-IL" sz="1400" dirty="0">
                <a:solidFill>
                  <a:srgbClr val="E6E6E6"/>
                </a:solidFill>
              </a:rPr>
              <a:t> מלא עם בלוקים , </a:t>
            </a:r>
            <a:r>
              <a:rPr lang="en-US" sz="1400" dirty="0">
                <a:solidFill>
                  <a:srgbClr val="E6E6E6"/>
                </a:solidFill>
              </a:rPr>
              <a:t>hash</a:t>
            </a:r>
            <a:r>
              <a:rPr lang="he-IL" sz="1400" dirty="0">
                <a:solidFill>
                  <a:srgbClr val="E6E6E6"/>
                </a:solidFill>
              </a:rPr>
              <a:t> מצטבר וסיד רשת מוגדר כ42 (מוגדר ב</a:t>
            </a:r>
            <a:r>
              <a:rPr lang="en-US" sz="1400" dirty="0">
                <a:solidFill>
                  <a:srgbClr val="E6E6E6"/>
                </a:solidFill>
              </a:rPr>
              <a:t>main</a:t>
            </a:r>
            <a:r>
              <a:rPr lang="he-IL" sz="1400" dirty="0">
                <a:solidFill>
                  <a:srgbClr val="E6E6E6"/>
                </a:solidFill>
              </a:rPr>
              <a:t>).</a:t>
            </a:r>
            <a:endParaRPr sz="1400" dirty="0">
              <a:solidFill>
                <a:srgbClr val="E6E6E6"/>
              </a:solidFill>
            </a:endParaRPr>
          </a:p>
          <a:p>
            <a:pPr lvl="1" algn="r" rtl="1"/>
            <a:r>
              <a:rPr lang="en" sz="1400" dirty="0" err="1">
                <a:solidFill>
                  <a:srgbClr val="E6E6E6"/>
                </a:solidFill>
              </a:rPr>
              <a:t>minerScheduler</a:t>
            </a:r>
            <a:r>
              <a:rPr lang="he-IL" sz="1400" dirty="0">
                <a:solidFill>
                  <a:srgbClr val="E6E6E6"/>
                </a:solidFill>
              </a:rPr>
              <a:t> - </a:t>
            </a:r>
            <a:r>
              <a:rPr sz="1400" dirty="0" err="1">
                <a:solidFill>
                  <a:srgbClr val="E6E6E6"/>
                </a:solidFill>
              </a:rPr>
              <a:t>כרייה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ציקלית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בסגנון</a:t>
            </a:r>
            <a:r>
              <a:rPr sz="1400" dirty="0">
                <a:solidFill>
                  <a:srgbClr val="E6E6E6"/>
                </a:solidFill>
              </a:rPr>
              <a:t> Solana </a:t>
            </a:r>
            <a:r>
              <a:rPr sz="1400" dirty="0" err="1">
                <a:solidFill>
                  <a:srgbClr val="E6E6E6"/>
                </a:solidFill>
              </a:rPr>
              <a:t>כורים</a:t>
            </a:r>
            <a:r>
              <a:rPr sz="1400" dirty="0">
                <a:solidFill>
                  <a:srgbClr val="E6E6E6"/>
                </a:solidFill>
              </a:rPr>
              <a:t> A–E </a:t>
            </a:r>
            <a:r>
              <a:rPr sz="1400" dirty="0" err="1">
                <a:solidFill>
                  <a:srgbClr val="E6E6E6"/>
                </a:solidFill>
              </a:rPr>
              <a:t>לפי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סדר</a:t>
            </a:r>
            <a:r>
              <a:rPr lang="he-IL" sz="1400" dirty="0">
                <a:solidFill>
                  <a:srgbClr val="E6E6E6"/>
                </a:solidFill>
              </a:rPr>
              <a:t> (מוגדר ב</a:t>
            </a:r>
            <a:r>
              <a:rPr lang="en-US" sz="1400" dirty="0">
                <a:solidFill>
                  <a:srgbClr val="E6E6E6"/>
                </a:solidFill>
              </a:rPr>
              <a:t>main</a:t>
            </a:r>
            <a:r>
              <a:rPr lang="he-IL" sz="1400" dirty="0">
                <a:solidFill>
                  <a:srgbClr val="E6E6E6"/>
                </a:solidFill>
              </a:rPr>
              <a:t>).</a:t>
            </a:r>
          </a:p>
          <a:p>
            <a:pPr lvl="1" algn="r" rtl="1"/>
            <a:r>
              <a:rPr lang="en" sz="1400" dirty="0">
                <a:solidFill>
                  <a:srgbClr val="E6E6E6"/>
                </a:solidFill>
              </a:rPr>
              <a:t>ledger </a:t>
            </a:r>
            <a:r>
              <a:rPr lang="he-IL" sz="1400" dirty="0">
                <a:solidFill>
                  <a:srgbClr val="E6E6E6"/>
                </a:solidFill>
              </a:rPr>
              <a:t> - מכיל ומשתמש ב</a:t>
            </a:r>
            <a:r>
              <a:rPr lang="en" sz="1400" dirty="0">
                <a:solidFill>
                  <a:srgbClr val="E6E6E6"/>
                </a:solidFill>
              </a:rPr>
              <a:t> </a:t>
            </a:r>
            <a:r>
              <a:rPr lang="en" sz="1400" dirty="0" err="1">
                <a:solidFill>
                  <a:srgbClr val="E6E6E6"/>
                </a:solidFill>
              </a:rPr>
              <a:t>transactionProcessor</a:t>
            </a:r>
            <a:r>
              <a:rPr lang="he-IL" sz="1400" dirty="0">
                <a:solidFill>
                  <a:srgbClr val="E6E6E6"/>
                </a:solidFill>
              </a:rPr>
              <a:t>למעקב וגביית </a:t>
            </a:r>
            <a:r>
              <a:rPr sz="1400" dirty="0" err="1">
                <a:solidFill>
                  <a:srgbClr val="E6E6E6"/>
                </a:solidFill>
              </a:rPr>
              <a:t>עמלות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ב</a:t>
            </a:r>
            <a:r>
              <a:rPr lang="he-IL" sz="1400" dirty="0">
                <a:solidFill>
                  <a:srgbClr val="E6E6E6"/>
                </a:solidFill>
              </a:rPr>
              <a:t>סיס ועמלות טיפ,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שריפת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עמלות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ותגמולי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כורה</a:t>
            </a:r>
            <a:r>
              <a:rPr lang="he-IL" sz="1400" dirty="0">
                <a:solidFill>
                  <a:srgbClr val="E6E6E6"/>
                </a:solidFill>
              </a:rPr>
              <a:t>.</a:t>
            </a:r>
          </a:p>
          <a:p>
            <a:pPr lvl="1" algn="r" rtl="1"/>
            <a:r>
              <a:rPr sz="1400" dirty="0" err="1">
                <a:solidFill>
                  <a:srgbClr val="E6E6E6"/>
                </a:solidFill>
              </a:rPr>
              <a:t>יצירת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טרנזקציות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חתומות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עם</a:t>
            </a:r>
            <a:r>
              <a:rPr sz="1400" dirty="0">
                <a:solidFill>
                  <a:srgbClr val="E6E6E6"/>
                </a:solidFill>
              </a:rPr>
              <a:t> ECDSA secp256k1 </a:t>
            </a:r>
            <a:r>
              <a:rPr sz="1400" dirty="0" err="1">
                <a:solidFill>
                  <a:srgbClr val="E6E6E6"/>
                </a:solidFill>
              </a:rPr>
              <a:t>ואימות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חתימה</a:t>
            </a:r>
            <a:r>
              <a:rPr lang="he-IL" sz="1400" dirty="0">
                <a:solidFill>
                  <a:srgbClr val="E6E6E6"/>
                </a:solidFill>
              </a:rPr>
              <a:t>.</a:t>
            </a:r>
          </a:p>
          <a:p>
            <a:pPr lvl="1" algn="r" rtl="1"/>
            <a:r>
              <a:rPr sz="1400" dirty="0" err="1">
                <a:solidFill>
                  <a:srgbClr val="E6E6E6"/>
                </a:solidFill>
              </a:rPr>
              <a:t>הדגמת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חיפוש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והוכחת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קיום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טרנ</a:t>
            </a:r>
            <a:r>
              <a:rPr lang="he-IL" sz="1400" dirty="0">
                <a:solidFill>
                  <a:srgbClr val="E6E6E6"/>
                </a:solidFill>
              </a:rPr>
              <a:t>זק</a:t>
            </a:r>
            <a:r>
              <a:rPr sz="1400" dirty="0" err="1">
                <a:solidFill>
                  <a:srgbClr val="E6E6E6"/>
                </a:solidFill>
              </a:rPr>
              <a:t>ציה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דרך</a:t>
            </a:r>
            <a:r>
              <a:rPr lang="he-IL" sz="1400" dirty="0">
                <a:solidFill>
                  <a:srgbClr val="E6E6E6"/>
                </a:solidFill>
              </a:rPr>
              <a:t> </a:t>
            </a:r>
            <a:r>
              <a:rPr sz="1400" dirty="0">
                <a:solidFill>
                  <a:srgbClr val="E6E6E6"/>
                </a:solidFill>
              </a:rPr>
              <a:t>Bloom + Merk</a:t>
            </a:r>
            <a:r>
              <a:rPr lang="en" sz="1400" dirty="0">
                <a:solidFill>
                  <a:srgbClr val="E6E6E6"/>
                </a:solidFill>
              </a:rPr>
              <a:t>l</a:t>
            </a:r>
            <a:r>
              <a:rPr lang="he-IL" sz="1400" dirty="0">
                <a:solidFill>
                  <a:srgbClr val="E6E6E6"/>
                </a:solidFill>
              </a:rPr>
              <a:t>.</a:t>
            </a:r>
            <a:endParaRPr sz="1400" dirty="0">
              <a:solidFill>
                <a:srgbClr val="E6E6E6"/>
              </a:solidFill>
            </a:endParaRPr>
          </a:p>
          <a:p>
            <a:pPr algn="r" rtl="1"/>
            <a:endParaRPr sz="2400" dirty="0">
              <a:solidFill>
                <a:srgbClr val="E6E6E6"/>
              </a:solidFill>
            </a:endParaRPr>
          </a:p>
          <a:p>
            <a:pPr algn="r" rtl="1"/>
            <a:r>
              <a:rPr sz="2400" dirty="0">
                <a:solidFill>
                  <a:srgbClr val="E6E6E6"/>
                </a:solidFill>
              </a:rPr>
              <a:t>Known Bugs:</a:t>
            </a:r>
            <a:endParaRPr lang="he-IL" sz="2400" dirty="0">
              <a:solidFill>
                <a:srgbClr val="E6E6E6"/>
              </a:solidFill>
            </a:endParaRPr>
          </a:p>
          <a:p>
            <a:pPr lvl="1" algn="r" rtl="1"/>
            <a:r>
              <a:rPr sz="1400" dirty="0" err="1">
                <a:solidFill>
                  <a:srgbClr val="E6E6E6"/>
                </a:solidFill>
              </a:rPr>
              <a:t>לא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ידועים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באגים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לוגיים</a:t>
            </a:r>
            <a:r>
              <a:rPr sz="1400" dirty="0">
                <a:solidFill>
                  <a:srgbClr val="E6E6E6"/>
                </a:solidFill>
              </a:rPr>
              <a:t> – </a:t>
            </a:r>
            <a:r>
              <a:rPr sz="1400" dirty="0" err="1">
                <a:solidFill>
                  <a:srgbClr val="E6E6E6"/>
                </a:solidFill>
              </a:rPr>
              <a:t>הרצה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מלאה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על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קובץ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Solanatransactions.json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נותנת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שרשרת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תקפה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וסטטיסטיקות</a:t>
            </a:r>
            <a:r>
              <a:rPr sz="1400" dirty="0">
                <a:solidFill>
                  <a:srgbClr val="E6E6E6"/>
                </a:solidFill>
              </a:rPr>
              <a:t> </a:t>
            </a:r>
            <a:r>
              <a:rPr sz="1400" dirty="0" err="1">
                <a:solidFill>
                  <a:srgbClr val="E6E6E6"/>
                </a:solidFill>
              </a:rPr>
              <a:t>עקביות</a:t>
            </a:r>
            <a:endParaRPr lang="he-IL" sz="1400" dirty="0">
              <a:solidFill>
                <a:srgbClr val="E6E6E6"/>
              </a:solidFill>
            </a:endParaRPr>
          </a:p>
          <a:p>
            <a:pPr lvl="1" algn="r" rtl="1"/>
            <a:endParaRPr lang="he-IL" sz="1400" dirty="0">
              <a:solidFill>
                <a:srgbClr val="E6E6E6"/>
              </a:solidFill>
            </a:endParaRPr>
          </a:p>
          <a:p>
            <a:pPr algn="r" rtl="1"/>
            <a:r>
              <a:rPr lang="he-IL" sz="2400" dirty="0">
                <a:solidFill>
                  <a:srgbClr val="E6E6E6"/>
                </a:solidFill>
              </a:rPr>
              <a:t>דרישות שלא מומשו:</a:t>
            </a:r>
          </a:p>
          <a:p>
            <a:pPr lvl="1" algn="r" rtl="1"/>
            <a:r>
              <a:rPr lang="en" sz="1400" dirty="0" err="1">
                <a:solidFill>
                  <a:srgbClr val="E6E6E6"/>
                </a:solidFill>
              </a:rPr>
              <a:t>Segwit</a:t>
            </a:r>
            <a:r>
              <a:rPr lang="he-IL" sz="1400" dirty="0">
                <a:solidFill>
                  <a:srgbClr val="E6E6E6"/>
                </a:solidFill>
              </a:rPr>
              <a:t> לא מומש לפי הנחיית המרצה (הוחלט שאינו חובה בעבודה זו).</a:t>
            </a:r>
            <a:endParaRPr sz="1400" dirty="0">
              <a:solidFill>
                <a:srgbClr val="E6E6E6"/>
              </a:solidFill>
            </a:endParaRPr>
          </a:p>
          <a:p>
            <a:pPr algn="r" rtl="1"/>
            <a:endParaRPr sz="2400" dirty="0">
              <a:solidFill>
                <a:srgbClr val="E6E6E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>
                <a:solidFill>
                  <a:srgbClr val="FFFFFF"/>
                </a:solidFill>
                <a:cs typeface="+mn-cs"/>
              </a:rPr>
              <a:t>הוראות</a:t>
            </a:r>
            <a:r>
              <a:rPr sz="4000" b="1" dirty="0">
                <a:solidFill>
                  <a:srgbClr val="FFFFFF"/>
                </a:solidFill>
                <a:cs typeface="+mn-cs"/>
              </a:rPr>
              <a:t> </a:t>
            </a:r>
            <a:r>
              <a:rPr sz="4000" b="1" dirty="0" err="1">
                <a:solidFill>
                  <a:srgbClr val="FFFFFF"/>
                </a:solidFill>
                <a:cs typeface="+mn-cs"/>
              </a:rPr>
              <a:t>התקנה</a:t>
            </a:r>
            <a:r>
              <a:rPr sz="4000" b="1" dirty="0">
                <a:solidFill>
                  <a:srgbClr val="FFFFFF"/>
                </a:solidFill>
                <a:cs typeface="+mn-cs"/>
              </a:rPr>
              <a:t> </a:t>
            </a:r>
            <a:r>
              <a:rPr sz="4000" b="1" dirty="0" err="1">
                <a:solidFill>
                  <a:srgbClr val="FFFFFF"/>
                </a:solidFill>
                <a:cs typeface="+mn-cs"/>
              </a:rPr>
              <a:t>והרצה</a:t>
            </a:r>
            <a:endParaRPr sz="4000" b="1" dirty="0">
              <a:solidFill>
                <a:srgbClr val="FFFFFF"/>
              </a:solidFill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40F4927-A5C8-1F85-4A94-768207A38D11}"/>
              </a:ext>
            </a:extLst>
          </p:cNvPr>
          <p:cNvSpPr txBox="1">
            <a:spLocks/>
          </p:cNvSpPr>
          <p:nvPr/>
        </p:nvSpPr>
        <p:spPr>
          <a:xfrm>
            <a:off x="457200" y="1426105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he-IL" sz="2000" dirty="0">
                <a:solidFill>
                  <a:srgbClr val="E6E6E6"/>
                </a:solidFill>
              </a:rPr>
              <a:t>דרישות מוקדמות:</a:t>
            </a:r>
          </a:p>
          <a:p>
            <a:pPr lvl="1" algn="r" rtl="1"/>
            <a:r>
              <a:rPr lang="en-US" sz="1600" dirty="0">
                <a:solidFill>
                  <a:srgbClr val="E6E6E6"/>
                </a:solidFill>
              </a:rPr>
              <a:t>Node.js</a:t>
            </a:r>
            <a:r>
              <a:rPr lang="he-IL" sz="1600" dirty="0">
                <a:solidFill>
                  <a:srgbClr val="E6E6E6"/>
                </a:solidFill>
              </a:rPr>
              <a:t> גרסה 18 ומעלה</a:t>
            </a:r>
          </a:p>
          <a:p>
            <a:pPr lvl="1" algn="r" rtl="1"/>
            <a:r>
              <a:rPr lang="en-US" sz="1600" dirty="0" err="1">
                <a:solidFill>
                  <a:srgbClr val="E6E6E6"/>
                </a:solidFill>
              </a:rPr>
              <a:t>Npm</a:t>
            </a:r>
            <a:endParaRPr lang="he-IL" sz="1600" dirty="0">
              <a:solidFill>
                <a:srgbClr val="E6E6E6"/>
              </a:solidFill>
            </a:endParaRPr>
          </a:p>
          <a:p>
            <a:pPr algn="r" rtl="1"/>
            <a:r>
              <a:rPr lang="he-IL" sz="2000" dirty="0">
                <a:solidFill>
                  <a:srgbClr val="E6E6E6"/>
                </a:solidFill>
              </a:rPr>
              <a:t>שלבי התקנה:</a:t>
            </a: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הורדת התיקייה </a:t>
            </a:r>
            <a:r>
              <a:rPr lang="en" sz="1600" dirty="0" err="1">
                <a:solidFill>
                  <a:srgbClr val="E6E6E6"/>
                </a:solidFill>
              </a:rPr>
              <a:t>basicsolanablockchain</a:t>
            </a:r>
            <a:r>
              <a:rPr lang="he-IL" sz="1600" dirty="0">
                <a:solidFill>
                  <a:srgbClr val="E6E6E6"/>
                </a:solidFill>
              </a:rPr>
              <a:t>, כולל כל קבצי ה</a:t>
            </a:r>
            <a:r>
              <a:rPr lang="en-US" sz="1600" dirty="0" err="1">
                <a:solidFill>
                  <a:srgbClr val="E6E6E6"/>
                </a:solidFill>
              </a:rPr>
              <a:t>js</a:t>
            </a:r>
            <a:r>
              <a:rPr lang="he-IL" sz="1600" dirty="0">
                <a:solidFill>
                  <a:srgbClr val="E6E6E6"/>
                </a:solidFill>
              </a:rPr>
              <a:t> </a:t>
            </a:r>
            <a:r>
              <a:rPr lang="he-IL" sz="1600" dirty="0" err="1">
                <a:solidFill>
                  <a:srgbClr val="E6E6E6"/>
                </a:solidFill>
              </a:rPr>
              <a:t>וה</a:t>
            </a:r>
            <a:r>
              <a:rPr lang="en-US" sz="1600" dirty="0" err="1">
                <a:solidFill>
                  <a:srgbClr val="E6E6E6"/>
                </a:solidFill>
              </a:rPr>
              <a:t>jso</a:t>
            </a:r>
            <a:r>
              <a:rPr lang="he-IL" sz="1600" dirty="0">
                <a:solidFill>
                  <a:srgbClr val="E6E6E6"/>
                </a:solidFill>
              </a:rPr>
              <a:t>.</a:t>
            </a: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הרץ בתיקייה הראשית </a:t>
            </a:r>
            <a:r>
              <a:rPr lang="en" sz="1600" dirty="0" err="1">
                <a:solidFill>
                  <a:srgbClr val="E6E6E6"/>
                </a:solidFill>
              </a:rPr>
              <a:t>npm</a:t>
            </a:r>
            <a:r>
              <a:rPr lang="en" sz="1600" dirty="0">
                <a:solidFill>
                  <a:srgbClr val="E6E6E6"/>
                </a:solidFill>
              </a:rPr>
              <a:t> install</a:t>
            </a:r>
            <a:r>
              <a:rPr lang="he-IL" sz="1600" dirty="0">
                <a:solidFill>
                  <a:srgbClr val="E6E6E6"/>
                </a:solidFill>
              </a:rPr>
              <a:t> (יותקנו הספריות </a:t>
            </a:r>
            <a:r>
              <a:rPr lang="en" sz="1600" dirty="0">
                <a:solidFill>
                  <a:srgbClr val="E6E6E6"/>
                </a:solidFill>
              </a:rPr>
              <a:t>crypto-</a:t>
            </a:r>
            <a:r>
              <a:rPr lang="en" sz="1600" dirty="0" err="1">
                <a:solidFill>
                  <a:srgbClr val="E6E6E6"/>
                </a:solidFill>
              </a:rPr>
              <a:t>js</a:t>
            </a:r>
            <a:r>
              <a:rPr lang="en" sz="1600" dirty="0">
                <a:solidFill>
                  <a:srgbClr val="E6E6E6"/>
                </a:solidFill>
              </a:rPr>
              <a:t>, elliptic, </a:t>
            </a:r>
            <a:r>
              <a:rPr lang="en" sz="1600" dirty="0" err="1">
                <a:solidFill>
                  <a:srgbClr val="E6E6E6"/>
                </a:solidFill>
              </a:rPr>
              <a:t>merkletreejs</a:t>
            </a:r>
            <a:r>
              <a:rPr lang="en" sz="1600" dirty="0">
                <a:solidFill>
                  <a:srgbClr val="E6E6E6"/>
                </a:solidFill>
              </a:rPr>
              <a:t>, bloom-filters </a:t>
            </a:r>
            <a:r>
              <a:rPr lang="he-IL" sz="1600" dirty="0">
                <a:solidFill>
                  <a:srgbClr val="E6E6E6"/>
                </a:solidFill>
              </a:rPr>
              <a:t> ועוד).</a:t>
            </a:r>
          </a:p>
          <a:p>
            <a:pPr algn="r" rtl="1"/>
            <a:r>
              <a:rPr lang="he-IL" sz="2000" dirty="0">
                <a:solidFill>
                  <a:srgbClr val="E6E6E6"/>
                </a:solidFill>
              </a:rPr>
              <a:t>הרצה:</a:t>
            </a: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בתיקייה הראשית יש להריץ </a:t>
            </a:r>
            <a:r>
              <a:rPr lang="en-US" sz="1600" dirty="0">
                <a:solidFill>
                  <a:srgbClr val="E6E6E6"/>
                </a:solidFill>
              </a:rPr>
              <a:t>node </a:t>
            </a:r>
            <a:r>
              <a:rPr lang="en-US" sz="1600" dirty="0" err="1">
                <a:solidFill>
                  <a:srgbClr val="E6E6E6"/>
                </a:solidFill>
              </a:rPr>
              <a:t>main.js</a:t>
            </a:r>
            <a:r>
              <a:rPr lang="he-IL" sz="1600" dirty="0">
                <a:solidFill>
                  <a:srgbClr val="E6E6E6"/>
                </a:solidFill>
              </a:rPr>
              <a:t>.</a:t>
            </a:r>
          </a:p>
          <a:p>
            <a:pPr algn="r" rtl="1"/>
            <a:r>
              <a:rPr lang="he-IL" sz="2000" dirty="0">
                <a:solidFill>
                  <a:srgbClr val="E6E6E6"/>
                </a:solidFill>
              </a:rPr>
              <a:t>פלט:</a:t>
            </a:r>
            <a:endParaRPr lang="en-US" sz="2000" dirty="0">
              <a:solidFill>
                <a:srgbClr val="E6E6E6"/>
              </a:solidFill>
            </a:endParaRP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טעינת </a:t>
            </a:r>
            <a:r>
              <a:rPr lang="he-IL" sz="1600" dirty="0" err="1">
                <a:solidFill>
                  <a:srgbClr val="E6E6E6"/>
                </a:solidFill>
              </a:rPr>
              <a:t>הטרנזקציות</a:t>
            </a:r>
            <a:r>
              <a:rPr lang="he-IL" sz="1600" dirty="0">
                <a:solidFill>
                  <a:srgbClr val="E6E6E6"/>
                </a:solidFill>
              </a:rPr>
              <a:t> מהקובץ </a:t>
            </a:r>
            <a:r>
              <a:rPr lang="en" sz="1600" dirty="0" err="1">
                <a:solidFill>
                  <a:srgbClr val="E6E6E6"/>
                </a:solidFill>
              </a:rPr>
              <a:t>Solanatransactions.json</a:t>
            </a:r>
            <a:r>
              <a:rPr lang="he-IL" sz="1600" dirty="0">
                <a:solidFill>
                  <a:srgbClr val="E6E6E6"/>
                </a:solidFill>
              </a:rPr>
              <a:t> (לוג של כמה </a:t>
            </a:r>
            <a:r>
              <a:rPr lang="he-IL" sz="1600" dirty="0" err="1">
                <a:solidFill>
                  <a:srgbClr val="E6E6E6"/>
                </a:solidFill>
              </a:rPr>
              <a:t>טרנזקציות</a:t>
            </a:r>
            <a:r>
              <a:rPr lang="he-IL" sz="1600" dirty="0">
                <a:solidFill>
                  <a:srgbClr val="E6E6E6"/>
                </a:solidFill>
              </a:rPr>
              <a:t> נוצרו).</a:t>
            </a: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בניית הבלוקים לפי הכורים </a:t>
            </a:r>
            <a:r>
              <a:rPr lang="en" sz="1600" dirty="0">
                <a:solidFill>
                  <a:srgbClr val="E6E6E6"/>
                </a:solidFill>
              </a:rPr>
              <a:t>A–E</a:t>
            </a:r>
            <a:r>
              <a:rPr lang="he-IL" sz="1600" dirty="0">
                <a:solidFill>
                  <a:srgbClr val="E6E6E6"/>
                </a:solidFill>
              </a:rPr>
              <a:t> בצורה </a:t>
            </a:r>
            <a:r>
              <a:rPr lang="he-IL" sz="1600" dirty="0" err="1">
                <a:solidFill>
                  <a:srgbClr val="E6E6E6"/>
                </a:solidFill>
              </a:rPr>
              <a:t>ציקלית</a:t>
            </a:r>
            <a:r>
              <a:rPr lang="he-IL" sz="1600" dirty="0">
                <a:solidFill>
                  <a:srgbClr val="E6E6E6"/>
                </a:solidFill>
              </a:rPr>
              <a:t>. סך </a:t>
            </a:r>
            <a:r>
              <a:rPr lang="he-IL" sz="1600" dirty="0" err="1">
                <a:solidFill>
                  <a:srgbClr val="E6E6E6"/>
                </a:solidFill>
              </a:rPr>
              <a:t>הכל</a:t>
            </a:r>
            <a:r>
              <a:rPr lang="he-IL" sz="1600" dirty="0">
                <a:solidFill>
                  <a:srgbClr val="E6E6E6"/>
                </a:solidFill>
              </a:rPr>
              <a:t> יהיה בבלוק 50 </a:t>
            </a:r>
            <a:r>
              <a:rPr lang="he-IL" sz="1600" dirty="0" err="1">
                <a:solidFill>
                  <a:srgbClr val="E6E6E6"/>
                </a:solidFill>
              </a:rPr>
              <a:t>טרנזקציות</a:t>
            </a:r>
            <a:r>
              <a:rPr lang="he-IL" sz="1600" dirty="0">
                <a:solidFill>
                  <a:srgbClr val="E6E6E6"/>
                </a:solidFill>
              </a:rPr>
              <a:t> לא כולל </a:t>
            </a:r>
            <a:r>
              <a:rPr lang="en-US" sz="1600" dirty="0" err="1">
                <a:solidFill>
                  <a:srgbClr val="E6E6E6"/>
                </a:solidFill>
              </a:rPr>
              <a:t>coinbase</a:t>
            </a:r>
            <a:r>
              <a:rPr lang="he-IL" sz="1600" dirty="0">
                <a:solidFill>
                  <a:srgbClr val="E6E6E6"/>
                </a:solidFill>
              </a:rPr>
              <a:t> אלא אם לא היו עוד </a:t>
            </a:r>
            <a:r>
              <a:rPr lang="he-IL" sz="1600" dirty="0" err="1">
                <a:solidFill>
                  <a:srgbClr val="E6E6E6"/>
                </a:solidFill>
              </a:rPr>
              <a:t>טרנזקיות</a:t>
            </a:r>
            <a:r>
              <a:rPr lang="he-IL" sz="1600" dirty="0">
                <a:solidFill>
                  <a:srgbClr val="E6E6E6"/>
                </a:solidFill>
              </a:rPr>
              <a:t> במאגר, </a:t>
            </a:r>
            <a:r>
              <a:rPr lang="he-IL" sz="1600" dirty="0" err="1">
                <a:solidFill>
                  <a:srgbClr val="E6E6E6"/>
                </a:solidFill>
              </a:rPr>
              <a:t>טרנזקציות</a:t>
            </a:r>
            <a:r>
              <a:rPr lang="he-IL" sz="1600" dirty="0">
                <a:solidFill>
                  <a:srgbClr val="E6E6E6"/>
                </a:solidFill>
              </a:rPr>
              <a:t> ה</a:t>
            </a:r>
            <a:r>
              <a:rPr lang="en-US" sz="1600" dirty="0" err="1">
                <a:solidFill>
                  <a:srgbClr val="E6E6E6"/>
                </a:solidFill>
              </a:rPr>
              <a:t>coinbase</a:t>
            </a:r>
            <a:r>
              <a:rPr lang="he-IL" sz="1600" dirty="0">
                <a:solidFill>
                  <a:srgbClr val="E6E6E6"/>
                </a:solidFill>
              </a:rPr>
              <a:t> יכנסו לסוף התור של </a:t>
            </a:r>
            <a:r>
              <a:rPr lang="he-IL" sz="1600" dirty="0" err="1">
                <a:solidFill>
                  <a:srgbClr val="E6E6E6"/>
                </a:solidFill>
              </a:rPr>
              <a:t>הטרנזקציות</a:t>
            </a:r>
            <a:r>
              <a:rPr lang="he-IL" sz="1600" dirty="0">
                <a:solidFill>
                  <a:srgbClr val="E6E6E6"/>
                </a:solidFill>
              </a:rPr>
              <a:t> ויעובדו בסוף.</a:t>
            </a: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הדפסת יתרות סופיות לכל ארנק</a:t>
            </a:r>
            <a:r>
              <a:rPr lang="en" sz="1600" dirty="0">
                <a:solidFill>
                  <a:srgbClr val="E6E6E6"/>
                </a:solidFill>
              </a:rPr>
              <a:t>A–J </a:t>
            </a:r>
            <a:r>
              <a:rPr lang="he-IL" sz="1600" dirty="0">
                <a:solidFill>
                  <a:srgbClr val="E6E6E6"/>
                </a:solidFill>
              </a:rPr>
              <a:t> וסטטיסטיקות על כל הרשת כמה מטבעות נשרפו, נכרו, סה"כ כמות המטבעות ברשת.</a:t>
            </a: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הדגמת מציאת הוכחת </a:t>
            </a:r>
            <a:r>
              <a:rPr lang="en" sz="1600" dirty="0">
                <a:solidFill>
                  <a:srgbClr val="E6E6E6"/>
                </a:solidFill>
              </a:rPr>
              <a:t>Merkle </a:t>
            </a:r>
            <a:r>
              <a:rPr lang="he-IL" sz="1600" dirty="0">
                <a:solidFill>
                  <a:srgbClr val="E6E6E6"/>
                </a:solidFill>
              </a:rPr>
              <a:t> </a:t>
            </a:r>
            <a:r>
              <a:rPr lang="he-IL" sz="1600" dirty="0" err="1">
                <a:solidFill>
                  <a:srgbClr val="E6E6E6"/>
                </a:solidFill>
              </a:rPr>
              <a:t>לטרנזקציה</a:t>
            </a:r>
            <a:r>
              <a:rPr lang="he-IL" sz="1600" dirty="0">
                <a:solidFill>
                  <a:srgbClr val="E6E6E6"/>
                </a:solidFill>
              </a:rPr>
              <a:t> רנדומלית באמצעות </a:t>
            </a:r>
            <a:r>
              <a:rPr lang="en" sz="1600" dirty="0">
                <a:solidFill>
                  <a:srgbClr val="E6E6E6"/>
                </a:solidFill>
              </a:rPr>
              <a:t>Bloom + Merkl</a:t>
            </a:r>
            <a:r>
              <a:rPr lang="he-IL" sz="1600" dirty="0">
                <a:solidFill>
                  <a:srgbClr val="E6E6E6"/>
                </a:solidFill>
              </a:rPr>
              <a:t> בכל בלוק.</a:t>
            </a:r>
          </a:p>
          <a:p>
            <a:pPr lvl="1" algn="r" rtl="1"/>
            <a:r>
              <a:rPr lang="he-IL" sz="1600" dirty="0">
                <a:solidFill>
                  <a:srgbClr val="E6E6E6"/>
                </a:solidFill>
              </a:rPr>
              <a:t>בדיקת תקינות השרשרת </a:t>
            </a:r>
            <a:r>
              <a:rPr lang="en" sz="1600" dirty="0" err="1">
                <a:solidFill>
                  <a:srgbClr val="E6E6E6"/>
                </a:solidFill>
              </a:rPr>
              <a:t>isValid</a:t>
            </a:r>
            <a:r>
              <a:rPr lang="en" sz="1600" dirty="0">
                <a:solidFill>
                  <a:srgbClr val="E6E6E6"/>
                </a:solidFill>
              </a:rPr>
              <a:t>() </a:t>
            </a:r>
            <a:r>
              <a:rPr lang="he-IL" sz="1600" dirty="0">
                <a:solidFill>
                  <a:srgbClr val="E6E6E6"/>
                </a:solidFill>
              </a:rPr>
              <a:t> עם הדפסת </a:t>
            </a:r>
            <a:r>
              <a:rPr lang="en" sz="1600" dirty="0">
                <a:solidFill>
                  <a:srgbClr val="E6E6E6"/>
                </a:solidFill>
              </a:rPr>
              <a:t>Is chain valid? true/false</a:t>
            </a:r>
            <a:r>
              <a:rPr lang="he-IL" sz="1600" dirty="0">
                <a:solidFill>
                  <a:srgbClr val="E6E6E6"/>
                </a:solidFill>
              </a:rPr>
              <a:t>.</a:t>
            </a:r>
            <a:endParaRPr lang="en" sz="1600" dirty="0">
              <a:solidFill>
                <a:srgbClr val="E6E6E6"/>
              </a:solidFill>
            </a:endParaRPr>
          </a:p>
          <a:p>
            <a:pPr lvl="1" algn="r" rtl="1"/>
            <a:endParaRPr lang="he-IL" sz="1600" dirty="0">
              <a:solidFill>
                <a:srgbClr val="E6E6E6"/>
              </a:solidFill>
            </a:endParaRPr>
          </a:p>
          <a:p>
            <a:pPr lvl="1" algn="r" rtl="1"/>
            <a:endParaRPr lang="he-IL" sz="1600" dirty="0">
              <a:solidFill>
                <a:srgbClr val="E6E6E6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67FA3-C37F-61B7-2820-9FEE2A89F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A257282-801E-D1B3-062F-1168824D011F}"/>
              </a:ext>
            </a:extLst>
          </p:cNvPr>
          <p:cNvSpPr txBox="1">
            <a:spLocks/>
          </p:cNvSpPr>
          <p:nvPr/>
        </p:nvSpPr>
        <p:spPr>
          <a:xfrm>
            <a:off x="457200" y="1426105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he-IL" sz="1600" dirty="0">
                <a:solidFill>
                  <a:srgbClr val="E6E6E6"/>
                </a:solidFill>
              </a:rPr>
              <a:t>ישנה דוגמא לפלט בתיקייה בקובץ בשם - </a:t>
            </a:r>
            <a:r>
              <a:rPr lang="en" sz="1600" dirty="0" err="1">
                <a:solidFill>
                  <a:srgbClr val="E6E6E6"/>
                </a:solidFill>
              </a:rPr>
              <a:t>outputExample.txt</a:t>
            </a:r>
            <a:endParaRPr lang="he-IL" sz="1600" dirty="0">
              <a:solidFill>
                <a:srgbClr val="E6E6E6"/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D4CDB62-055C-0F7A-9E2D-A1D79C549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he-IL" sz="4000" b="1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דוגמא לפלט</a:t>
            </a:r>
            <a:endParaRPr sz="4000" b="1" dirty="0">
              <a:solidFill>
                <a:srgbClr val="FFFFF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תמונה 1">
            <a:extLst>
              <a:ext uri="{FF2B5EF4-FFF2-40B4-BE49-F238E27FC236}">
                <a16:creationId xmlns:a16="http://schemas.microsoft.com/office/drawing/2014/main" id="{C17E82EE-DBE3-BF8A-4931-BCDC4ADDD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3827"/>
            <a:ext cx="7772400" cy="479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10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>
                <a:solidFill>
                  <a:srgbClr val="FFFFFF"/>
                </a:solidFill>
              </a:rPr>
              <a:t>תמונת</a:t>
            </a:r>
            <a:r>
              <a:rPr sz="4000" b="1" dirty="0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מצב</a:t>
            </a:r>
            <a:r>
              <a:rPr sz="4000" b="1" dirty="0">
                <a:solidFill>
                  <a:srgbClr val="FFFFFF"/>
                </a:solidFill>
              </a:rPr>
              <a:t> – </a:t>
            </a:r>
            <a:r>
              <a:rPr sz="4000" b="1" dirty="0" err="1">
                <a:solidFill>
                  <a:srgbClr val="FFFFFF"/>
                </a:solidFill>
              </a:rPr>
              <a:t>קבצי</a:t>
            </a:r>
            <a:r>
              <a:rPr sz="4000" b="1" dirty="0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הפרויקט</a:t>
            </a:r>
            <a:r>
              <a:rPr sz="4000" b="1" dirty="0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ותפקידם</a:t>
            </a:r>
            <a:endParaRPr sz="4000" b="1" dirty="0">
              <a:solidFill>
                <a:srgbClr val="FFFFFF"/>
              </a:solidFill>
            </a:endParaRP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7E827836-3556-086A-45B2-121EAF0FAA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55747" y="1504578"/>
            <a:ext cx="8531053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block.js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מגדיר בלוק בשרשרת, מחשב את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ה־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hash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ובונה לכל בלוק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Merkle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Tree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ו־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Bloom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Filter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indent="0" algn="r" defTabSz="914400" rt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transaction</a:t>
            </a:r>
            <a:r>
              <a:rPr lang="en" sz="1400" dirty="0">
                <a:solidFill>
                  <a:schemeClr val="bg1"/>
                </a:solidFill>
                <a:cs typeface="Arial" panose="020B0604020202020204" pitchFamily="34" charset="0"/>
              </a:rPr>
              <a:t>.</a:t>
            </a:r>
            <a:r>
              <a:rPr lang="en" sz="1400" dirty="0" err="1">
                <a:solidFill>
                  <a:schemeClr val="bg1"/>
                </a:solidFill>
                <a:cs typeface="Arial" panose="020B0604020202020204" pitchFamily="34" charset="0"/>
              </a:rPr>
              <a:t>js</a:t>
            </a:r>
            <a:r>
              <a:rPr lang="en" sz="1400" dirty="0">
                <a:solidFill>
                  <a:schemeClr val="bg1"/>
                </a:solidFill>
                <a:cs typeface="Arial" panose="020B0604020202020204" pitchFamily="34" charset="0"/>
              </a:rPr>
              <a:t> – 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 - מגדיר </a:t>
            </a:r>
            <a:r>
              <a:rPr lang="he-IL" sz="1400" dirty="0" err="1">
                <a:solidFill>
                  <a:schemeClr val="bg1"/>
                </a:solidFill>
                <a:cs typeface="Arial" panose="020B0604020202020204" pitchFamily="34" charset="0"/>
              </a:rPr>
              <a:t>טרנזקציה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 אחת, הכוללת כתובת שולח, כתובת מקבל, סכום, עמלות (</a:t>
            </a:r>
            <a:r>
              <a:rPr lang="en" sz="1400" dirty="0" err="1">
                <a:solidFill>
                  <a:schemeClr val="bg1"/>
                </a:solidFill>
                <a:cs typeface="Arial" panose="020B0604020202020204" pitchFamily="34" charset="0"/>
              </a:rPr>
              <a:t>baseFee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 ו-</a:t>
            </a:r>
            <a:r>
              <a:rPr lang="en" sz="1400" dirty="0"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" sz="1400" dirty="0" err="1">
                <a:solidFill>
                  <a:schemeClr val="bg1"/>
                </a:solidFill>
                <a:cs typeface="Arial" panose="020B0604020202020204" pitchFamily="34" charset="0"/>
              </a:rPr>
              <a:t>tipFee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), </a:t>
            </a:r>
            <a:r>
              <a:rPr lang="en-US" sz="1400" dirty="0">
                <a:solidFill>
                  <a:schemeClr val="bg1"/>
                </a:solidFill>
                <a:cs typeface="Arial" panose="020B0604020202020204" pitchFamily="34" charset="0"/>
              </a:rPr>
              <a:t>hash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,</a:t>
            </a:r>
            <a:br>
              <a:rPr lang="en-US" sz="1400" dirty="0">
                <a:solidFill>
                  <a:schemeClr val="bg1"/>
                </a:solidFill>
                <a:cs typeface="Arial" panose="020B0604020202020204" pitchFamily="34" charset="0"/>
              </a:rPr>
            </a:br>
            <a:r>
              <a:rPr lang="en" sz="1400" dirty="0">
                <a:solidFill>
                  <a:schemeClr val="bg1"/>
                </a:solidFill>
                <a:cs typeface="Arial" panose="020B0604020202020204" pitchFamily="34" charset="0"/>
              </a:rPr>
              <a:t>nonce 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 ואת הלוגיקה לחישוב </a:t>
            </a:r>
            <a:r>
              <a:rPr lang="en-US" sz="1400" dirty="0">
                <a:solidFill>
                  <a:schemeClr val="bg1"/>
                </a:solidFill>
                <a:cs typeface="Arial" panose="020B0604020202020204" pitchFamily="34" charset="0"/>
              </a:rPr>
              <a:t>hash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, חתימה בעזרת המפתח הפרטי של השולח ובדיקת תקינות החתימה.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wallet.js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גוזר מפתח פרטי/ציבורי על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secp256k1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ומפיק כתובת ציבורית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lvl="0" indent="0" algn="r" defTabSz="914400" rt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transactionProcessor.js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מעבד </a:t>
            </a:r>
            <a:r>
              <a:rPr lang="he-IL" sz="1400" dirty="0" err="1">
                <a:solidFill>
                  <a:schemeClr val="bg1"/>
                </a:solidFill>
                <a:cs typeface="Arial" panose="020B0604020202020204" pitchFamily="34" charset="0"/>
              </a:rPr>
              <a:t>טרנזקציות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, מחיל עמלות ושריפה (</a:t>
            </a:r>
            <a:r>
              <a:rPr lang="en-US" sz="1400" dirty="0" err="1">
                <a:solidFill>
                  <a:schemeClr val="bg1"/>
                </a:solidFill>
                <a:cs typeface="Arial" panose="020B0604020202020204" pitchFamily="34" charset="0"/>
              </a:rPr>
              <a:t>baseFee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) מעדכן </a:t>
            </a:r>
            <a:r>
              <a:rPr lang="en" sz="1400" dirty="0" err="1">
                <a:solidFill>
                  <a:schemeClr val="bg1"/>
                </a:solidFill>
                <a:cs typeface="Arial" panose="020B0604020202020204" pitchFamily="34" charset="0"/>
              </a:rPr>
              <a:t>BalancesState</a:t>
            </a:r>
            <a:r>
              <a:rPr lang="en" sz="1400" dirty="0"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ו-</a:t>
            </a:r>
            <a:r>
              <a:rPr lang="en" sz="1400" dirty="0">
                <a:solidFill>
                  <a:schemeClr val="bg1"/>
                </a:solidFill>
                <a:cs typeface="Arial" panose="020B0604020202020204" pitchFamily="34" charset="0"/>
              </a:rPr>
              <a:t>Ledger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.</a:t>
            </a:r>
            <a:endParaRPr lang="he-IL" altLang="he-IL" sz="1400" dirty="0"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balancesState.js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מנהל את היתרות של כל ארנק במערכת, כולל חיובים וזיכויים במהלך הריצה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ledger.js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עוקב אחרי מטבעות שנשרפו ונכרו, מחשב את סך המטבעות ברשת ומדפיס סיכום סופי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miner.js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מממש את לוגיק</a:t>
            </a:r>
            <a:r>
              <a:rPr lang="he-IL" alt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ת הכורה הבודד שבונה בלוק חדש מתוך רשימת </a:t>
            </a:r>
            <a:r>
              <a:rPr lang="he-IL" altLang="he-IL" sz="1400" dirty="0" err="1">
                <a:solidFill>
                  <a:schemeClr val="bg1"/>
                </a:solidFill>
                <a:cs typeface="Arial" panose="020B0604020202020204" pitchFamily="34" charset="0"/>
              </a:rPr>
              <a:t>הטרנזקציות</a:t>
            </a:r>
            <a:r>
              <a:rPr lang="he-IL" alt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" sz="1400" dirty="0" err="1">
                <a:solidFill>
                  <a:schemeClr val="bg1"/>
                </a:solidFill>
                <a:cs typeface="Arial" panose="020B0604020202020204" pitchFamily="34" charset="0"/>
              </a:rPr>
              <a:t>minerScheduler.js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 - מנהל תור </a:t>
            </a:r>
            <a:r>
              <a:rPr lang="he-IL" sz="1400" dirty="0" err="1">
                <a:solidFill>
                  <a:schemeClr val="bg1"/>
                </a:solidFill>
                <a:cs typeface="Arial" panose="020B0604020202020204" pitchFamily="34" charset="0"/>
              </a:rPr>
              <a:t>טרנזקציות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, חותם </a:t>
            </a:r>
            <a:r>
              <a:rPr lang="he-IL" sz="1400" dirty="0" err="1">
                <a:solidFill>
                  <a:schemeClr val="bg1"/>
                </a:solidFill>
                <a:cs typeface="Arial" panose="020B0604020202020204" pitchFamily="34" charset="0"/>
              </a:rPr>
              <a:t>טרנזקציות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, מריץ את לולאת הכרייה בסבב בין הכורים</a:t>
            </a:r>
            <a:r>
              <a:rPr lang="en-US" sz="1400" dirty="0">
                <a:solidFill>
                  <a:schemeClr val="bg1"/>
                </a:solidFill>
                <a:cs typeface="Arial" panose="020B0604020202020204" pitchFamily="34" charset="0"/>
              </a:rPr>
              <a:t> A-E 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,</a:t>
            </a:r>
            <a:br>
              <a:rPr lang="en-US" sz="1400" dirty="0">
                <a:solidFill>
                  <a:schemeClr val="bg1"/>
                </a:solidFill>
                <a:cs typeface="Arial" panose="020B0604020202020204" pitchFamily="34" charset="0"/>
              </a:rPr>
            </a:b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ומוסיף </a:t>
            </a:r>
            <a:r>
              <a:rPr lang="he-IL" sz="1400" dirty="0" err="1">
                <a:solidFill>
                  <a:schemeClr val="bg1"/>
                </a:solidFill>
                <a:cs typeface="Arial" panose="020B0604020202020204" pitchFamily="34" charset="0"/>
              </a:rPr>
              <a:t>טרנזקציות</a:t>
            </a:r>
            <a:r>
              <a:rPr lang="en" sz="1400" dirty="0" err="1">
                <a:solidFill>
                  <a:schemeClr val="bg1"/>
                </a:solidFill>
                <a:cs typeface="Arial" panose="020B0604020202020204" pitchFamily="34" charset="0"/>
              </a:rPr>
              <a:t>coinbase</a:t>
            </a:r>
            <a:r>
              <a:rPr lang="en" sz="1400" dirty="0"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he-IL" sz="1400" dirty="0">
                <a:solidFill>
                  <a:schemeClr val="bg1"/>
                </a:solidFill>
                <a:cs typeface="Arial" panose="020B0604020202020204" pitchFamily="34" charset="0"/>
              </a:rPr>
              <a:t> (תגמול + טיפים) לתור.</a:t>
            </a:r>
            <a:endParaRPr lang="he-IL" altLang="he-IL" sz="1400" dirty="0">
              <a:solidFill>
                <a:schemeClr val="bg1"/>
              </a:solidFill>
              <a:latin typeface="Arial Unicode MS" panose="020B0604020202020204" pitchFamily="34" charset="-12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merkleWrapper.js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עטיפה לעץ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Merkle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לבניית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Merkle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Root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וליצירה/אימות של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Merkle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Proof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לכל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טרנזקציה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bloomWrapper.js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עטיפה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ל־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Bloom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Filter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לבדיקת האם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טרנזקציה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 עשויה להופיע בבלוק לפני חיפוש מלא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blockchain.js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מנהל את רשימת הבלוקים, בונה את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הבלוקצ'יין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, מחפש הוכחות ומבצע בדיקת תקינות לשרשרת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 panose="020B0604020202020204" pitchFamily="34" charset="-128"/>
              </a:rPr>
              <a:t>main.js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– 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נקודת הכניסה: יוצר ארנקים וכורים, טוען את קובץ </a:t>
            </a:r>
            <a:r>
              <a:rPr kumimoji="0" lang="he-IL" altLang="he-IL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הטרנזקציות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cs typeface="Arial" panose="020B0604020202020204" pitchFamily="34" charset="0"/>
              </a:rPr>
              <a:t>, בונה את השרשרת ומריץ את ההדגמות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.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</a:rPr>
              <a:t>Block</a:t>
            </a:r>
            <a:endParaRPr sz="3600" b="1" dirty="0">
              <a:solidFill>
                <a:srgbClr val="FFFFFF"/>
              </a:solidFill>
            </a:endParaRPr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0A26520D-C4D5-31CD-4B4E-3ABB750E6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53" y="1417638"/>
            <a:ext cx="4999258" cy="209152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2DC7978C-EE6F-0DC5-1D94-550112002701}"/>
              </a:ext>
            </a:extLst>
          </p:cNvPr>
          <p:cNvSpPr txBox="1"/>
          <p:nvPr/>
        </p:nvSpPr>
        <p:spPr>
          <a:xfrm>
            <a:off x="1947482" y="1160661"/>
            <a:ext cx="1397000" cy="30777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solidFill>
                  <a:srgbClr val="FFFFFF"/>
                </a:solidFill>
              </a:rPr>
              <a:t>מבנה הבלוק</a:t>
            </a:r>
          </a:p>
        </p:txBody>
      </p:sp>
      <p:pic>
        <p:nvPicPr>
          <p:cNvPr id="12" name="תמונה 11">
            <a:extLst>
              <a:ext uri="{FF2B5EF4-FFF2-40B4-BE49-F238E27FC236}">
                <a16:creationId xmlns:a16="http://schemas.microsoft.com/office/drawing/2014/main" id="{D53F6998-3B2D-FE60-8530-B1EFEA84A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53" y="5441313"/>
            <a:ext cx="4999258" cy="132079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3" name="תיבת טקסט 12">
            <a:extLst>
              <a:ext uri="{FF2B5EF4-FFF2-40B4-BE49-F238E27FC236}">
                <a16:creationId xmlns:a16="http://schemas.microsoft.com/office/drawing/2014/main" id="{C78EF1A3-39D4-EF62-8685-7927235E80A6}"/>
              </a:ext>
            </a:extLst>
          </p:cNvPr>
          <p:cNvSpPr txBox="1"/>
          <p:nvPr/>
        </p:nvSpPr>
        <p:spPr>
          <a:xfrm>
            <a:off x="1947482" y="5164388"/>
            <a:ext cx="1397000" cy="30777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solidFill>
                  <a:srgbClr val="FFFFFF"/>
                </a:solidFill>
              </a:rPr>
              <a:t>חישוב </a:t>
            </a:r>
            <a:r>
              <a:rPr lang="en-US" sz="1400" b="1" dirty="0">
                <a:solidFill>
                  <a:srgbClr val="FFFFFF"/>
                </a:solidFill>
              </a:rPr>
              <a:t>hash</a:t>
            </a:r>
            <a:endParaRPr lang="he-IL" sz="1400" b="1" dirty="0">
              <a:solidFill>
                <a:srgbClr val="FFFFFF"/>
              </a:solidFill>
            </a:endParaRPr>
          </a:p>
        </p:txBody>
      </p:sp>
      <p:cxnSp>
        <p:nvCxnSpPr>
          <p:cNvPr id="15" name="מחבר ישר 14">
            <a:extLst>
              <a:ext uri="{FF2B5EF4-FFF2-40B4-BE49-F238E27FC236}">
                <a16:creationId xmlns:a16="http://schemas.microsoft.com/office/drawing/2014/main" id="{F2FFE606-0A9F-94FF-7B4F-67AF98ADAC4B}"/>
              </a:ext>
            </a:extLst>
          </p:cNvPr>
          <p:cNvCxnSpPr>
            <a:cxnSpLocks/>
          </p:cNvCxnSpPr>
          <p:nvPr/>
        </p:nvCxnSpPr>
        <p:spPr>
          <a:xfrm>
            <a:off x="1396953" y="6241143"/>
            <a:ext cx="4614333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מחבר ישר 17">
            <a:extLst>
              <a:ext uri="{FF2B5EF4-FFF2-40B4-BE49-F238E27FC236}">
                <a16:creationId xmlns:a16="http://schemas.microsoft.com/office/drawing/2014/main" id="{96C9596A-2374-B5DA-5914-D699DF124E87}"/>
              </a:ext>
            </a:extLst>
          </p:cNvPr>
          <p:cNvCxnSpPr/>
          <p:nvPr/>
        </p:nvCxnSpPr>
        <p:spPr>
          <a:xfrm flipV="1">
            <a:off x="1396953" y="6101712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A85916B0-DA6C-2966-B7D4-FCBEC9ED5B1E}"/>
              </a:ext>
            </a:extLst>
          </p:cNvPr>
          <p:cNvSpPr txBox="1"/>
          <p:nvPr/>
        </p:nvSpPr>
        <p:spPr>
          <a:xfrm>
            <a:off x="6073175" y="6010310"/>
            <a:ext cx="1357935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200" dirty="0">
                <a:solidFill>
                  <a:schemeClr val="bg1"/>
                </a:solidFill>
              </a:rPr>
              <a:t>כל </a:t>
            </a:r>
            <a:r>
              <a:rPr lang="he-IL" sz="1200" dirty="0" err="1">
                <a:solidFill>
                  <a:schemeClr val="bg1"/>
                </a:solidFill>
              </a:rPr>
              <a:t>טרנזקציה</a:t>
            </a:r>
            <a:r>
              <a:rPr lang="he-IL" sz="1200" dirty="0">
                <a:solidFill>
                  <a:schemeClr val="bg1"/>
                </a:solidFill>
              </a:rPr>
              <a:t> מעדכנת את ה</a:t>
            </a:r>
            <a:r>
              <a:rPr lang="en-US" sz="1200" dirty="0">
                <a:solidFill>
                  <a:schemeClr val="bg1"/>
                </a:solidFill>
              </a:rPr>
              <a:t>hash</a:t>
            </a:r>
            <a:endParaRPr lang="he-IL" sz="1200" dirty="0">
              <a:solidFill>
                <a:schemeClr val="bg1"/>
              </a:solidFill>
            </a:endParaRPr>
          </a:p>
        </p:txBody>
      </p:sp>
      <p:pic>
        <p:nvPicPr>
          <p:cNvPr id="20" name="תמונה 19">
            <a:extLst>
              <a:ext uri="{FF2B5EF4-FFF2-40B4-BE49-F238E27FC236}">
                <a16:creationId xmlns:a16="http://schemas.microsoft.com/office/drawing/2014/main" id="{C0775075-66E7-1342-0AB4-03129B86C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464" y="2245744"/>
            <a:ext cx="5282293" cy="308068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1" name="תיבת טקסט 20">
            <a:extLst>
              <a:ext uri="{FF2B5EF4-FFF2-40B4-BE49-F238E27FC236}">
                <a16:creationId xmlns:a16="http://schemas.microsoft.com/office/drawing/2014/main" id="{210BC9C1-961F-1527-3CEB-DA9FB31C8EF0}"/>
              </a:ext>
            </a:extLst>
          </p:cNvPr>
          <p:cNvSpPr txBox="1"/>
          <p:nvPr/>
        </p:nvSpPr>
        <p:spPr>
          <a:xfrm>
            <a:off x="6814434" y="2245744"/>
            <a:ext cx="1627438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highlight>
                  <a:srgbClr val="FFFF00"/>
                </a:highlight>
              </a:rPr>
              <a:t>קבלת </a:t>
            </a:r>
            <a:r>
              <a:rPr lang="en-US" sz="1400" b="1" dirty="0" err="1">
                <a:highlight>
                  <a:srgbClr val="FFFF00"/>
                </a:highlight>
              </a:rPr>
              <a:t>merkle</a:t>
            </a:r>
            <a:r>
              <a:rPr lang="en-US" sz="1400" b="1" dirty="0">
                <a:highlight>
                  <a:srgbClr val="FFFF00"/>
                </a:highlight>
              </a:rPr>
              <a:t> root</a:t>
            </a:r>
            <a:r>
              <a:rPr lang="he-IL" sz="1400" b="1" dirty="0">
                <a:highlight>
                  <a:srgbClr val="FFFF00"/>
                </a:highlight>
              </a:rPr>
              <a:t> של הבלוק</a:t>
            </a:r>
          </a:p>
        </p:txBody>
      </p:sp>
      <p:sp>
        <p:nvSpPr>
          <p:cNvPr id="22" name="תיבת טקסט 21">
            <a:extLst>
              <a:ext uri="{FF2B5EF4-FFF2-40B4-BE49-F238E27FC236}">
                <a16:creationId xmlns:a16="http://schemas.microsoft.com/office/drawing/2014/main" id="{B1FF4473-3A85-8F6D-B080-B7DD528BA8A6}"/>
              </a:ext>
            </a:extLst>
          </p:cNvPr>
          <p:cNvSpPr txBox="1"/>
          <p:nvPr/>
        </p:nvSpPr>
        <p:spPr>
          <a:xfrm>
            <a:off x="6864022" y="3124980"/>
            <a:ext cx="2141789" cy="73866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highlight>
                  <a:srgbClr val="FFFF00"/>
                </a:highlight>
              </a:rPr>
              <a:t>ווידוא כי ה</a:t>
            </a:r>
            <a:r>
              <a:rPr lang="en-US" sz="1400" b="1" dirty="0" err="1">
                <a:highlight>
                  <a:srgbClr val="FFFF00"/>
                </a:highlight>
              </a:rPr>
              <a:t>merkle</a:t>
            </a:r>
            <a:r>
              <a:rPr lang="en-US" sz="1400" b="1" dirty="0">
                <a:highlight>
                  <a:srgbClr val="FFFF00"/>
                </a:highlight>
              </a:rPr>
              <a:t> proof</a:t>
            </a:r>
            <a:r>
              <a:rPr lang="he-IL" sz="1400" b="1" dirty="0">
                <a:highlight>
                  <a:srgbClr val="FFFF00"/>
                </a:highlight>
              </a:rPr>
              <a:t> עבור </a:t>
            </a:r>
            <a:r>
              <a:rPr lang="he-IL" sz="1400" b="1" dirty="0" err="1">
                <a:highlight>
                  <a:srgbClr val="FFFF00"/>
                </a:highlight>
              </a:rPr>
              <a:t>טרנזקציה</a:t>
            </a:r>
            <a:r>
              <a:rPr lang="he-IL" sz="1400" b="1" dirty="0">
                <a:highlight>
                  <a:srgbClr val="FFFF00"/>
                </a:highlight>
              </a:rPr>
              <a:t> ספציפית תקין</a:t>
            </a:r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D47E52D2-D156-592F-2DCC-DFD7D20E7254}"/>
              </a:ext>
            </a:extLst>
          </p:cNvPr>
          <p:cNvSpPr txBox="1"/>
          <p:nvPr/>
        </p:nvSpPr>
        <p:spPr>
          <a:xfrm>
            <a:off x="6878512" y="4641168"/>
            <a:ext cx="2141789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highlight>
                  <a:srgbClr val="FFFF00"/>
                </a:highlight>
              </a:rPr>
              <a:t>מציאת </a:t>
            </a:r>
            <a:r>
              <a:rPr lang="he-IL" sz="1400" b="1" dirty="0" err="1">
                <a:highlight>
                  <a:srgbClr val="FFFF00"/>
                </a:highlight>
              </a:rPr>
              <a:t>טרנזקציה</a:t>
            </a:r>
            <a:r>
              <a:rPr lang="he-IL" sz="1400" b="1" dirty="0">
                <a:highlight>
                  <a:srgbClr val="FFFF00"/>
                </a:highlight>
              </a:rPr>
              <a:t> </a:t>
            </a:r>
            <a:r>
              <a:rPr lang="he-IL" sz="1400" b="1" dirty="0" err="1">
                <a:highlight>
                  <a:srgbClr val="FFFF00"/>
                </a:highlight>
              </a:rPr>
              <a:t>ששיכת</a:t>
            </a:r>
            <a:r>
              <a:rPr lang="he-IL" sz="1400" b="1" dirty="0">
                <a:highlight>
                  <a:srgbClr val="FFFF00"/>
                </a:highlight>
              </a:rPr>
              <a:t> לבלוק</a:t>
            </a:r>
          </a:p>
        </p:txBody>
      </p:sp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AD000B36-D00D-A09F-2279-36CD2E26C1AF}"/>
              </a:ext>
            </a:extLst>
          </p:cNvPr>
          <p:cNvSpPr txBox="1"/>
          <p:nvPr/>
        </p:nvSpPr>
        <p:spPr>
          <a:xfrm>
            <a:off x="5228010" y="1989097"/>
            <a:ext cx="3593347" cy="30777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solidFill>
                  <a:srgbClr val="FFFFFF"/>
                </a:solidFill>
              </a:rPr>
              <a:t>פונקציות המשמשות לקבלת הוכחת </a:t>
            </a:r>
            <a:r>
              <a:rPr lang="he-IL" sz="1400" b="1" dirty="0" err="1">
                <a:solidFill>
                  <a:srgbClr val="FFFFFF"/>
                </a:solidFill>
              </a:rPr>
              <a:t>טרנזקציה</a:t>
            </a:r>
            <a:endParaRPr lang="he-IL" sz="1400" b="1" dirty="0">
              <a:solidFill>
                <a:srgbClr val="FFFFFF"/>
              </a:solidFill>
            </a:endParaRPr>
          </a:p>
        </p:txBody>
      </p:sp>
      <p:sp>
        <p:nvSpPr>
          <p:cNvPr id="25" name="מלבן 24">
            <a:extLst>
              <a:ext uri="{FF2B5EF4-FFF2-40B4-BE49-F238E27FC236}">
                <a16:creationId xmlns:a16="http://schemas.microsoft.com/office/drawing/2014/main" id="{CF3134B6-4256-F0E7-002B-70F02E16A26F}"/>
              </a:ext>
            </a:extLst>
          </p:cNvPr>
          <p:cNvSpPr/>
          <p:nvPr/>
        </p:nvSpPr>
        <p:spPr>
          <a:xfrm>
            <a:off x="635194" y="2359292"/>
            <a:ext cx="1486772" cy="10697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457200" rtl="1" eaLnBrk="1" latinLnBrk="0" hangingPunct="1"/>
            <a:endParaRPr lang="he-IL"/>
          </a:p>
        </p:txBody>
      </p:sp>
      <p:cxnSp>
        <p:nvCxnSpPr>
          <p:cNvPr id="27" name="מחבר ישר 26">
            <a:extLst>
              <a:ext uri="{FF2B5EF4-FFF2-40B4-BE49-F238E27FC236}">
                <a16:creationId xmlns:a16="http://schemas.microsoft.com/office/drawing/2014/main" id="{5D29A2EC-EA65-4B3B-AB2B-962F51E5E55E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1378580" y="3429000"/>
            <a:ext cx="0" cy="610985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תיבת טקסט 28">
            <a:extLst>
              <a:ext uri="{FF2B5EF4-FFF2-40B4-BE49-F238E27FC236}">
                <a16:creationId xmlns:a16="http://schemas.microsoft.com/office/drawing/2014/main" id="{67CC36AD-79E0-076A-C97F-B194702D4641}"/>
              </a:ext>
            </a:extLst>
          </p:cNvPr>
          <p:cNvSpPr txBox="1"/>
          <p:nvPr/>
        </p:nvSpPr>
        <p:spPr>
          <a:xfrm>
            <a:off x="525552" y="4064087"/>
            <a:ext cx="1706055" cy="938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algn="r" defTabSz="457200" rtl="1" eaLnBrk="1" latinLnBrk="0" hangingPunct="1"/>
            <a:r>
              <a:rPr lang="he-IL" sz="1100" dirty="0">
                <a:solidFill>
                  <a:schemeClr val="bg1"/>
                </a:solidFill>
              </a:rPr>
              <a:t>כל בלוק מכיל</a:t>
            </a:r>
            <a:r>
              <a:rPr lang="en-US" sz="1100" dirty="0">
                <a:solidFill>
                  <a:schemeClr val="bg1"/>
                </a:solidFill>
              </a:rPr>
              <a:t>: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1"/>
                </a:solidFill>
              </a:rPr>
              <a:t>Merkle tree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1"/>
                </a:solidFill>
              </a:rPr>
              <a:t>Bloom filter</a:t>
            </a:r>
          </a:p>
          <a:p>
            <a:pPr algn="ctr" defTabSz="457200" rtl="1" eaLnBrk="1" latinLnBrk="0" hangingPunct="1"/>
            <a:r>
              <a:rPr lang="he-IL" sz="1100" dirty="0">
                <a:solidFill>
                  <a:schemeClr val="bg1"/>
                </a:solidFill>
              </a:rPr>
              <a:t>כדי לאפשר חיפוש </a:t>
            </a:r>
            <a:r>
              <a:rPr lang="he-IL" sz="1100" dirty="0" err="1">
                <a:solidFill>
                  <a:schemeClr val="bg1"/>
                </a:solidFill>
              </a:rPr>
              <a:t>טרנזקציה</a:t>
            </a:r>
            <a:r>
              <a:rPr lang="he-IL" sz="1100" dirty="0">
                <a:solidFill>
                  <a:schemeClr val="bg1"/>
                </a:solidFill>
              </a:rPr>
              <a:t> </a:t>
            </a:r>
            <a:r>
              <a:rPr lang="he-IL" sz="1100" dirty="0" err="1">
                <a:solidFill>
                  <a:schemeClr val="bg1"/>
                </a:solidFill>
              </a:rPr>
              <a:t>בבלוקצ׳יין</a:t>
            </a:r>
            <a:r>
              <a:rPr lang="he-IL" sz="1100" dirty="0">
                <a:solidFill>
                  <a:schemeClr val="bg1"/>
                </a:solidFill>
              </a:rPr>
              <a:t> ובבלוק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rgbClr val="FFFFFF"/>
                </a:solidFill>
              </a:rPr>
              <a:t>Bloom </a:t>
            </a:r>
            <a:r>
              <a:rPr sz="3600" b="1" dirty="0" err="1">
                <a:solidFill>
                  <a:srgbClr val="FFFFFF"/>
                </a:solidFill>
              </a:rPr>
              <a:t>Filte</a:t>
            </a:r>
            <a:r>
              <a:rPr lang="en" sz="3600" b="1" dirty="0">
                <a:solidFill>
                  <a:srgbClr val="FFFFFF"/>
                </a:solidFill>
              </a:rPr>
              <a:t>r</a:t>
            </a:r>
            <a:endParaRPr sz="3600" b="1" dirty="0"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08101"/>
            <a:ext cx="8229600" cy="1358899"/>
          </a:xfrm>
        </p:spPr>
        <p:txBody>
          <a:bodyPr/>
          <a:lstStyle/>
          <a:p>
            <a:pPr algn="r" rtl="1"/>
            <a:r>
              <a:rPr lang="he-IL" sz="1800" dirty="0">
                <a:solidFill>
                  <a:schemeClr val="bg1"/>
                </a:solidFill>
              </a:rPr>
              <a:t>כל בלוק מחזיק </a:t>
            </a:r>
            <a:r>
              <a:rPr lang="en" sz="1800" dirty="0">
                <a:solidFill>
                  <a:schemeClr val="bg1"/>
                </a:solidFill>
              </a:rPr>
              <a:t>Bloom Filter</a:t>
            </a:r>
            <a:r>
              <a:rPr lang="he-IL" sz="1800" dirty="0">
                <a:solidFill>
                  <a:schemeClr val="bg1"/>
                </a:solidFill>
              </a:rPr>
              <a:t> שנבנה מעל ה-</a:t>
            </a:r>
            <a:r>
              <a:rPr lang="en-US" sz="1800" dirty="0">
                <a:solidFill>
                  <a:schemeClr val="bg1"/>
                </a:solidFill>
              </a:rPr>
              <a:t>hash</a:t>
            </a:r>
            <a:r>
              <a:rPr lang="he-IL" sz="1800" dirty="0">
                <a:solidFill>
                  <a:schemeClr val="bg1"/>
                </a:solidFill>
              </a:rPr>
              <a:t> של כל </a:t>
            </a:r>
            <a:r>
              <a:rPr lang="he-IL" sz="1800" dirty="0" err="1">
                <a:solidFill>
                  <a:schemeClr val="bg1"/>
                </a:solidFill>
              </a:rPr>
              <a:t>הטרנזקציות</a:t>
            </a:r>
            <a:r>
              <a:rPr lang="he-IL" sz="1800" dirty="0">
                <a:solidFill>
                  <a:schemeClr val="bg1"/>
                </a:solidFill>
              </a:rPr>
              <a:t>.</a:t>
            </a:r>
          </a:p>
          <a:p>
            <a:pPr algn="r" rtl="1"/>
            <a:r>
              <a:rPr lang="he-IL" sz="1800" dirty="0">
                <a:solidFill>
                  <a:schemeClr val="bg1"/>
                </a:solidFill>
              </a:rPr>
              <a:t>מחלקת </a:t>
            </a:r>
            <a:r>
              <a:rPr lang="en" sz="1800" dirty="0" err="1">
                <a:solidFill>
                  <a:schemeClr val="bg1"/>
                </a:solidFill>
              </a:rPr>
              <a:t>BloomWrapper</a:t>
            </a:r>
            <a:r>
              <a:rPr lang="he-IL" sz="1800" dirty="0">
                <a:solidFill>
                  <a:schemeClr val="bg1"/>
                </a:solidFill>
              </a:rPr>
              <a:t> עוטפת את הספרייה ומספקת פונקציית אינדיקציה אם </a:t>
            </a:r>
            <a:r>
              <a:rPr lang="he-IL" sz="1800" dirty="0" err="1">
                <a:solidFill>
                  <a:schemeClr val="bg1"/>
                </a:solidFill>
              </a:rPr>
              <a:t>טרנזקציה</a:t>
            </a:r>
            <a:r>
              <a:rPr lang="he-IL" sz="1800" dirty="0">
                <a:solidFill>
                  <a:schemeClr val="bg1"/>
                </a:solidFill>
              </a:rPr>
              <a:t> ״אולי קיימת״ בבלוק לפני חיפוש מלא בבלוק.</a:t>
            </a:r>
          </a:p>
          <a:p>
            <a:pPr algn="r" rtl="1"/>
            <a:r>
              <a:rPr lang="he-IL" sz="1800" dirty="0">
                <a:solidFill>
                  <a:schemeClr val="bg1"/>
                </a:solidFill>
              </a:rPr>
              <a:t>ה</a:t>
            </a:r>
            <a:r>
              <a:rPr lang="en" sz="1800" dirty="0">
                <a:solidFill>
                  <a:schemeClr val="bg1"/>
                </a:solidFill>
              </a:rPr>
              <a:t>blockchain</a:t>
            </a:r>
            <a:r>
              <a:rPr lang="he-IL" sz="1800" dirty="0">
                <a:solidFill>
                  <a:schemeClr val="bg1"/>
                </a:solidFill>
              </a:rPr>
              <a:t> משתמש ב</a:t>
            </a:r>
            <a:r>
              <a:rPr lang="en-US" sz="1800" dirty="0">
                <a:solidFill>
                  <a:schemeClr val="bg1"/>
                </a:solidFill>
              </a:rPr>
              <a:t>Bloom</a:t>
            </a:r>
            <a:r>
              <a:rPr lang="he-IL" sz="1800" dirty="0">
                <a:solidFill>
                  <a:schemeClr val="bg1"/>
                </a:solidFill>
              </a:rPr>
              <a:t> כדי לסנן בלוקים שבהם </a:t>
            </a:r>
            <a:r>
              <a:rPr lang="he-IL" sz="1800" dirty="0" err="1">
                <a:solidFill>
                  <a:schemeClr val="bg1"/>
                </a:solidFill>
              </a:rPr>
              <a:t>הטרנזקציה</a:t>
            </a:r>
            <a:r>
              <a:rPr lang="he-IL" sz="1800" dirty="0">
                <a:solidFill>
                  <a:schemeClr val="bg1"/>
                </a:solidFill>
              </a:rPr>
              <a:t> לא יכולה להופיע.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E17DFB99-17AD-3EBA-54BF-D2EFAAED3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66377"/>
            <a:ext cx="7772400" cy="320804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rgbClr val="FFFFFF"/>
                </a:solidFill>
              </a:rPr>
              <a:t>Merkle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4934" y="1422047"/>
            <a:ext cx="8229600" cy="1414286"/>
          </a:xfrm>
        </p:spPr>
        <p:txBody>
          <a:bodyPr>
            <a:normAutofit/>
          </a:bodyPr>
          <a:lstStyle/>
          <a:p>
            <a:pPr algn="r" rtl="1"/>
            <a:r>
              <a:rPr lang="he-IL" sz="1400" b="1" dirty="0">
                <a:solidFill>
                  <a:srgbClr val="FFFFFF"/>
                </a:solidFill>
              </a:rPr>
              <a:t>בכל בלוק נבנה </a:t>
            </a:r>
            <a:r>
              <a:rPr lang="en" sz="1400" b="1" dirty="0">
                <a:solidFill>
                  <a:srgbClr val="FFFFFF"/>
                </a:solidFill>
              </a:rPr>
              <a:t>Merkle Tree</a:t>
            </a:r>
            <a:r>
              <a:rPr lang="he-IL" sz="1400" b="1" dirty="0">
                <a:solidFill>
                  <a:srgbClr val="FFFFFF"/>
                </a:solidFill>
              </a:rPr>
              <a:t> על בסיס </a:t>
            </a:r>
            <a:r>
              <a:rPr lang="en-US" sz="1400" b="1" dirty="0">
                <a:solidFill>
                  <a:srgbClr val="FFFFFF"/>
                </a:solidFill>
              </a:rPr>
              <a:t>hash</a:t>
            </a:r>
            <a:r>
              <a:rPr lang="he-IL" sz="1400" b="1" dirty="0">
                <a:solidFill>
                  <a:srgbClr val="FFFFFF"/>
                </a:solidFill>
              </a:rPr>
              <a:t> של </a:t>
            </a:r>
            <a:r>
              <a:rPr lang="he-IL" sz="1400" b="1" dirty="0" err="1">
                <a:solidFill>
                  <a:srgbClr val="FFFFFF"/>
                </a:solidFill>
              </a:rPr>
              <a:t>הטרנזקציות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  <a:endParaRPr sz="1400" b="1" dirty="0">
              <a:solidFill>
                <a:srgbClr val="FFFFFF"/>
              </a:solidFill>
            </a:endParaRPr>
          </a:p>
          <a:p>
            <a:pPr algn="r" rtl="1"/>
            <a:r>
              <a:rPr lang="en" sz="1400" b="1" dirty="0">
                <a:solidFill>
                  <a:srgbClr val="FFFFFF"/>
                </a:solidFill>
              </a:rPr>
              <a:t>Merkle Tree</a:t>
            </a:r>
            <a:r>
              <a:rPr lang="he-IL" sz="1400" b="1" dirty="0">
                <a:solidFill>
                  <a:srgbClr val="FFFFFF"/>
                </a:solidFill>
              </a:rPr>
              <a:t> יוצר </a:t>
            </a:r>
            <a:r>
              <a:rPr lang="en-US" sz="1400" b="1" dirty="0">
                <a:solidFill>
                  <a:srgbClr val="FFFFFF"/>
                </a:solidFill>
              </a:rPr>
              <a:t>root</a:t>
            </a:r>
            <a:r>
              <a:rPr lang="he-IL" sz="1400" b="1" dirty="0">
                <a:solidFill>
                  <a:srgbClr val="FFFFFF"/>
                </a:solidFill>
              </a:rPr>
              <a:t> ומספק </a:t>
            </a:r>
            <a:r>
              <a:rPr lang="en-US" sz="1400" b="1" dirty="0" err="1">
                <a:solidFill>
                  <a:srgbClr val="FFFFFF"/>
                </a:solidFill>
              </a:rPr>
              <a:t>getProof</a:t>
            </a:r>
            <a:r>
              <a:rPr lang="en-US" sz="1400" b="1" dirty="0">
                <a:solidFill>
                  <a:srgbClr val="FFFFFF"/>
                </a:solidFill>
              </a:rPr>
              <a:t>()</a:t>
            </a:r>
            <a:r>
              <a:rPr lang="he-IL" sz="1400" b="1" dirty="0">
                <a:solidFill>
                  <a:srgbClr val="FFFFFF"/>
                </a:solidFill>
              </a:rPr>
              <a:t> ו</a:t>
            </a:r>
            <a:r>
              <a:rPr lang="en-US" sz="1400" b="1" dirty="0">
                <a:solidFill>
                  <a:srgbClr val="FFFFFF"/>
                </a:solidFill>
              </a:rPr>
              <a:t>verify()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  <a:p>
            <a:pPr algn="r" rtl="1"/>
            <a:r>
              <a:rPr lang="he-IL" sz="1400" b="1" dirty="0">
                <a:solidFill>
                  <a:srgbClr val="FFFFFF"/>
                </a:solidFill>
              </a:rPr>
              <a:t>הבלוק משתמש ב </a:t>
            </a:r>
            <a:r>
              <a:rPr lang="en" sz="1400" b="1" dirty="0">
                <a:solidFill>
                  <a:srgbClr val="FFFFFF"/>
                </a:solidFill>
              </a:rPr>
              <a:t>Merkle Tree</a:t>
            </a:r>
            <a:r>
              <a:rPr lang="he-IL" sz="1400" b="1" dirty="0">
                <a:solidFill>
                  <a:srgbClr val="FFFFFF"/>
                </a:solidFill>
              </a:rPr>
              <a:t> לייצר </a:t>
            </a:r>
            <a:r>
              <a:rPr lang="en" sz="1400" b="1" dirty="0">
                <a:solidFill>
                  <a:srgbClr val="FFFFFF"/>
                </a:solidFill>
              </a:rPr>
              <a:t>Merkle Proo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  <a:p>
            <a:pPr algn="r" rtl="1"/>
            <a:r>
              <a:rPr lang="he-IL" sz="1400" b="1" dirty="0" err="1">
                <a:solidFill>
                  <a:srgbClr val="FFFFFF"/>
                </a:solidFill>
              </a:rPr>
              <a:t>הבולקצ׳יין</a:t>
            </a:r>
            <a:r>
              <a:rPr lang="he-IL" sz="1400" b="1" dirty="0">
                <a:solidFill>
                  <a:srgbClr val="FFFFFF"/>
                </a:solidFill>
              </a:rPr>
              <a:t> מחזיר לארנק הקל </a:t>
            </a:r>
            <a:r>
              <a:rPr lang="en" sz="1400" b="1" dirty="0" err="1">
                <a:solidFill>
                  <a:srgbClr val="FFFFFF"/>
                </a:solidFill>
              </a:rPr>
              <a:t>blockIndex</a:t>
            </a:r>
            <a:r>
              <a:rPr lang="en" sz="1400" b="1" dirty="0">
                <a:solidFill>
                  <a:srgbClr val="FFFFFF"/>
                </a:solidFill>
              </a:rPr>
              <a:t>, </a:t>
            </a:r>
            <a:r>
              <a:rPr lang="en" sz="1400" b="1" dirty="0" err="1">
                <a:solidFill>
                  <a:srgbClr val="FFFFFF"/>
                </a:solidFill>
              </a:rPr>
              <a:t>merkleRoot</a:t>
            </a:r>
            <a:r>
              <a:rPr lang="en" sz="1400" b="1" dirty="0">
                <a:solidFill>
                  <a:srgbClr val="FFFFFF"/>
                </a:solidFill>
              </a:rPr>
              <a:t> </a:t>
            </a:r>
            <a:r>
              <a:rPr lang="he-IL" sz="1400" b="1" dirty="0">
                <a:solidFill>
                  <a:srgbClr val="FFFFFF"/>
                </a:solidFill>
              </a:rPr>
              <a:t>ו־</a:t>
            </a:r>
            <a:r>
              <a:rPr lang="en" sz="1400" b="1" dirty="0">
                <a:solidFill>
                  <a:srgbClr val="FFFFFF"/>
                </a:solidFill>
              </a:rPr>
              <a:t>Merkle Proof.</a:t>
            </a:r>
            <a:r>
              <a:rPr lang="he-IL" sz="1400" b="1" dirty="0">
                <a:solidFill>
                  <a:srgbClr val="FFFFFF"/>
                </a:solidFill>
              </a:rPr>
              <a:t>, כך ניתן להוכיח קיום </a:t>
            </a:r>
            <a:r>
              <a:rPr lang="he-IL" sz="1400" b="1" dirty="0" err="1">
                <a:solidFill>
                  <a:srgbClr val="FFFFFF"/>
                </a:solidFill>
              </a:rPr>
              <a:t>טרנזקציה</a:t>
            </a:r>
            <a:r>
              <a:rPr lang="he-IL" sz="1400" b="1" dirty="0">
                <a:solidFill>
                  <a:srgbClr val="FFFFFF"/>
                </a:solidFill>
              </a:rPr>
              <a:t> בלי לשלוח את כל הבלוק.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678C29EF-1FD9-1C38-A22D-00A17884D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836333"/>
            <a:ext cx="5554605" cy="20404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92E417F7-C1EB-48F4-0427-076D0789C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0" y="4783665"/>
            <a:ext cx="5554605" cy="204046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76153F73-0D85-83B1-8780-CFFEA7E44B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411" y="4241092"/>
            <a:ext cx="4594594" cy="137302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7A6C9-DB4C-8F95-7CEE-2CB118C81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B9DF-8542-666F-3D04-A5149F706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rgbClr val="FFFFFF"/>
                </a:solidFill>
              </a:rPr>
              <a:t>Bl</a:t>
            </a:r>
            <a:r>
              <a:rPr lang="en-US" sz="3600" b="1" dirty="0">
                <a:solidFill>
                  <a:srgbClr val="FFFFFF"/>
                </a:solidFill>
              </a:rPr>
              <a:t>ockchain – </a:t>
            </a:r>
            <a:r>
              <a:rPr lang="he-IL" sz="3600" b="1" dirty="0">
                <a:solidFill>
                  <a:srgbClr val="FFFFFF"/>
                </a:solidFill>
              </a:rPr>
              <a:t>קבלת הוכחת </a:t>
            </a:r>
            <a:r>
              <a:rPr lang="he-IL" sz="3600" b="1" dirty="0" err="1">
                <a:solidFill>
                  <a:srgbClr val="FFFFFF"/>
                </a:solidFill>
              </a:rPr>
              <a:t>טרנזקציה</a:t>
            </a:r>
            <a:endParaRPr sz="3600" b="1" dirty="0">
              <a:solidFill>
                <a:srgbClr val="FFFFFF"/>
              </a:solidFill>
            </a:endParaRPr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E5455981-190B-7776-F3FD-9AB2E72D73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77"/>
          <a:stretch>
            <a:fillRect/>
          </a:stretch>
        </p:blipFill>
        <p:spPr>
          <a:xfrm>
            <a:off x="69273" y="1517654"/>
            <a:ext cx="5112327" cy="422505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63753C45-F36A-9FBA-CE55-68BF22A9DED2}"/>
              </a:ext>
            </a:extLst>
          </p:cNvPr>
          <p:cNvSpPr txBox="1"/>
          <p:nvPr/>
        </p:nvSpPr>
        <p:spPr>
          <a:xfrm>
            <a:off x="5230091" y="1833510"/>
            <a:ext cx="3844636" cy="375487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הפונקציה עוברת על כל הבלוקים בשרשרת.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בכל בלוק משתמשת ב־</a:t>
            </a:r>
            <a:r>
              <a:rPr lang="en" sz="1400" b="1" dirty="0">
                <a:solidFill>
                  <a:srgbClr val="FFFFFF"/>
                </a:solidFill>
              </a:rPr>
              <a:t>Bloom Filter </a:t>
            </a:r>
            <a:r>
              <a:rPr lang="he-IL" sz="1400" b="1" dirty="0">
                <a:solidFill>
                  <a:srgbClr val="FFFFFF"/>
                </a:solidFill>
              </a:rPr>
              <a:t> כדי לבדוק מהר אם </a:t>
            </a:r>
            <a:r>
              <a:rPr lang="he-IL" sz="1400" b="1" dirty="0" err="1">
                <a:solidFill>
                  <a:srgbClr val="FFFFFF"/>
                </a:solidFill>
              </a:rPr>
              <a:t>הטרנזקציה</a:t>
            </a:r>
            <a:r>
              <a:rPr lang="he-IL" sz="1400" b="1" dirty="0">
                <a:solidFill>
                  <a:srgbClr val="FFFFFF"/>
                </a:solidFill>
              </a:rPr>
              <a:t> עשויה להופיע בו, ואם לא – מדלגת הלאה.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אם ה־</a:t>
            </a:r>
            <a:r>
              <a:rPr lang="en" sz="1400" b="1" dirty="0">
                <a:solidFill>
                  <a:srgbClr val="FFFFFF"/>
                </a:solidFill>
              </a:rPr>
              <a:t>Bloom </a:t>
            </a:r>
            <a:r>
              <a:rPr lang="he-IL" sz="1400" b="1" dirty="0">
                <a:solidFill>
                  <a:srgbClr val="FFFFFF"/>
                </a:solidFill>
              </a:rPr>
              <a:t> אומר "אולי", היא מחפשת בבלוק את </a:t>
            </a:r>
            <a:r>
              <a:rPr lang="he-IL" sz="1400" b="1" dirty="0" err="1">
                <a:solidFill>
                  <a:srgbClr val="FFFFFF"/>
                </a:solidFill>
              </a:rPr>
              <a:t>הטרנזקציה</a:t>
            </a:r>
            <a:r>
              <a:rPr lang="he-IL" sz="1400" b="1" dirty="0">
                <a:solidFill>
                  <a:srgbClr val="FFFFFF"/>
                </a:solidFill>
              </a:rPr>
              <a:t> לפי ה-</a:t>
            </a:r>
            <a:r>
              <a:rPr lang="en-US" sz="1400" b="1" dirty="0">
                <a:solidFill>
                  <a:srgbClr val="FFFFFF"/>
                </a:solidFill>
              </a:rPr>
              <a:t>hash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אם נמצאה – מפיקה לה </a:t>
            </a:r>
            <a:r>
              <a:rPr lang="en" sz="1400" b="1" dirty="0">
                <a:solidFill>
                  <a:srgbClr val="FFFFFF"/>
                </a:solidFill>
              </a:rPr>
              <a:t>Merkle Proof </a:t>
            </a:r>
            <a:r>
              <a:rPr lang="he-IL" sz="1400" b="1" dirty="0">
                <a:solidFill>
                  <a:srgbClr val="FFFFFF"/>
                </a:solidFill>
              </a:rPr>
              <a:t> מהעץ בבלוק, ומוודאת שה-</a:t>
            </a:r>
            <a:r>
              <a:rPr lang="en" sz="1400" b="1" dirty="0">
                <a:solidFill>
                  <a:srgbClr val="FFFFFF"/>
                </a:solidFill>
              </a:rPr>
              <a:t>proof</a:t>
            </a:r>
            <a:r>
              <a:rPr lang="he-IL" sz="1400" b="1" dirty="0">
                <a:solidFill>
                  <a:srgbClr val="FFFFFF"/>
                </a:solidFill>
              </a:rPr>
              <a:t> תקף מול ה</a:t>
            </a:r>
            <a:r>
              <a:rPr lang="en" sz="1400" b="1" dirty="0" err="1">
                <a:solidFill>
                  <a:srgbClr val="FFFFFF"/>
                </a:solidFill>
              </a:rPr>
              <a:t>merkleRoot</a:t>
            </a:r>
            <a:r>
              <a:rPr lang="he-IL" sz="1400" b="1" dirty="0">
                <a:solidFill>
                  <a:srgbClr val="FFFFFF"/>
                </a:solidFill>
              </a:rPr>
              <a:t> של הבלוק.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אם </a:t>
            </a:r>
            <a:r>
              <a:rPr lang="he-IL" sz="1400" b="1" dirty="0" err="1">
                <a:solidFill>
                  <a:srgbClr val="FFFFFF"/>
                </a:solidFill>
              </a:rPr>
              <a:t>הכל</a:t>
            </a:r>
            <a:r>
              <a:rPr lang="he-IL" sz="1400" b="1" dirty="0">
                <a:solidFill>
                  <a:srgbClr val="FFFFFF"/>
                </a:solidFill>
              </a:rPr>
              <a:t> תקין – מחזירה אובייקט הכולל את: </a:t>
            </a:r>
          </a:p>
          <a:p>
            <a:pPr marL="742950" lvl="1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מספר הבלוק</a:t>
            </a:r>
          </a:p>
          <a:p>
            <a:pPr marL="742950" lvl="1" indent="-285750" algn="r" rtl="1">
              <a:buFont typeface="Arial" panose="020B0604020202020204" pitchFamily="34" charset="0"/>
              <a:buChar char="•"/>
            </a:pPr>
            <a:r>
              <a:rPr lang="en" sz="1400" b="1" dirty="0" err="1">
                <a:solidFill>
                  <a:srgbClr val="FFFFFF"/>
                </a:solidFill>
              </a:rPr>
              <a:t>blockHash</a:t>
            </a:r>
            <a:endParaRPr lang="he-IL" sz="1400" b="1" dirty="0">
              <a:solidFill>
                <a:srgbClr val="FFFFFF"/>
              </a:solidFill>
            </a:endParaRPr>
          </a:p>
          <a:p>
            <a:pPr marL="742950" lvl="1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ה-</a:t>
            </a:r>
            <a:r>
              <a:rPr lang="en" sz="1400" b="1" dirty="0" err="1">
                <a:solidFill>
                  <a:srgbClr val="FFFFFF"/>
                </a:solidFill>
              </a:rPr>
              <a:t>merkleRoot</a:t>
            </a:r>
            <a:endParaRPr lang="he-IL" sz="1400" b="1" dirty="0">
              <a:solidFill>
                <a:srgbClr val="FFFFFF"/>
              </a:solidFill>
            </a:endParaRPr>
          </a:p>
          <a:p>
            <a:pPr marL="742950" lvl="1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ה-</a:t>
            </a:r>
            <a:r>
              <a:rPr lang="en" sz="1400" b="1" dirty="0" err="1">
                <a:solidFill>
                  <a:srgbClr val="FFFFFF"/>
                </a:solidFill>
              </a:rPr>
              <a:t>transactionHash</a:t>
            </a:r>
            <a:endParaRPr lang="he-IL" sz="1400" b="1" dirty="0">
              <a:solidFill>
                <a:srgbClr val="FFFFFF"/>
              </a:solidFill>
            </a:endParaRPr>
          </a:p>
          <a:p>
            <a:pPr marL="742950" lvl="1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ה-</a:t>
            </a:r>
            <a:r>
              <a:rPr lang="en" sz="1400" b="1" dirty="0">
                <a:solidFill>
                  <a:srgbClr val="FFFFFF"/>
                </a:solidFill>
              </a:rPr>
              <a:t>proof</a:t>
            </a:r>
            <a:r>
              <a:rPr lang="he-IL" sz="1400" b="1" dirty="0">
                <a:solidFill>
                  <a:srgbClr val="FFFFFF"/>
                </a:solidFill>
              </a:rPr>
              <a:t> עצמו.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אם </a:t>
            </a:r>
            <a:r>
              <a:rPr lang="he-IL" sz="1400" b="1" dirty="0" err="1">
                <a:solidFill>
                  <a:srgbClr val="FFFFFF"/>
                </a:solidFill>
              </a:rPr>
              <a:t>הטרנזקציה</a:t>
            </a:r>
            <a:r>
              <a:rPr lang="he-IL" sz="1400" b="1" dirty="0">
                <a:solidFill>
                  <a:srgbClr val="FFFFFF"/>
                </a:solidFill>
              </a:rPr>
              <a:t> לא נמצאה או שה־</a:t>
            </a:r>
            <a:r>
              <a:rPr lang="en" sz="1400" b="1" dirty="0">
                <a:solidFill>
                  <a:srgbClr val="FFFFFF"/>
                </a:solidFill>
              </a:rPr>
              <a:t>proof </a:t>
            </a:r>
            <a:r>
              <a:rPr lang="he-IL" sz="1400" b="1" dirty="0">
                <a:solidFill>
                  <a:srgbClr val="FFFFFF"/>
                </a:solidFill>
              </a:rPr>
              <a:t> לא תקף – הפונקציה מחזירה </a:t>
            </a:r>
            <a:r>
              <a:rPr lang="en" sz="1400" b="1" dirty="0">
                <a:solidFill>
                  <a:srgbClr val="FFFFFF"/>
                </a:solidFill>
              </a:rPr>
              <a:t>null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</p:txBody>
      </p:sp>
      <p:cxnSp>
        <p:nvCxnSpPr>
          <p:cNvPr id="4" name="מחבר ישר 3">
            <a:extLst>
              <a:ext uri="{FF2B5EF4-FFF2-40B4-BE49-F238E27FC236}">
                <a16:creationId xmlns:a16="http://schemas.microsoft.com/office/drawing/2014/main" id="{BC1FEEB5-21EF-0FF2-5550-9DC1E929E183}"/>
              </a:ext>
            </a:extLst>
          </p:cNvPr>
          <p:cNvCxnSpPr>
            <a:cxnSpLocks/>
          </p:cNvCxnSpPr>
          <p:nvPr/>
        </p:nvCxnSpPr>
        <p:spPr>
          <a:xfrm>
            <a:off x="1474472" y="3294743"/>
            <a:ext cx="3582082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" name="מחבר ישר 4">
            <a:extLst>
              <a:ext uri="{FF2B5EF4-FFF2-40B4-BE49-F238E27FC236}">
                <a16:creationId xmlns:a16="http://schemas.microsoft.com/office/drawing/2014/main" id="{209B7BF9-5D5E-6B76-4624-F32D84F46482}"/>
              </a:ext>
            </a:extLst>
          </p:cNvPr>
          <p:cNvCxnSpPr/>
          <p:nvPr/>
        </p:nvCxnSpPr>
        <p:spPr>
          <a:xfrm flipV="1">
            <a:off x="1474472" y="3155312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A796B370-BBA0-C2CB-9BD0-4DB18D34B835}"/>
              </a:ext>
            </a:extLst>
          </p:cNvPr>
          <p:cNvSpPr txBox="1"/>
          <p:nvPr/>
        </p:nvSpPr>
        <p:spPr>
          <a:xfrm>
            <a:off x="4377586" y="6282874"/>
            <a:ext cx="1357935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200" dirty="0">
                <a:solidFill>
                  <a:schemeClr val="bg1"/>
                </a:solidFill>
              </a:rPr>
              <a:t>מוסבר בשקף על בלוק</a:t>
            </a:r>
          </a:p>
        </p:txBody>
      </p:sp>
      <p:cxnSp>
        <p:nvCxnSpPr>
          <p:cNvPr id="13" name="מחבר ישר 12">
            <a:extLst>
              <a:ext uri="{FF2B5EF4-FFF2-40B4-BE49-F238E27FC236}">
                <a16:creationId xmlns:a16="http://schemas.microsoft.com/office/drawing/2014/main" id="{35E3BE37-8F25-67FE-D56E-C5B41DAD69FE}"/>
              </a:ext>
            </a:extLst>
          </p:cNvPr>
          <p:cNvCxnSpPr>
            <a:cxnSpLocks/>
          </p:cNvCxnSpPr>
          <p:nvPr/>
        </p:nvCxnSpPr>
        <p:spPr>
          <a:xfrm>
            <a:off x="1474472" y="3876989"/>
            <a:ext cx="3582082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מחבר ישר 13">
            <a:extLst>
              <a:ext uri="{FF2B5EF4-FFF2-40B4-BE49-F238E27FC236}">
                <a16:creationId xmlns:a16="http://schemas.microsoft.com/office/drawing/2014/main" id="{030335FB-EAA2-842E-0143-238BA271D910}"/>
              </a:ext>
            </a:extLst>
          </p:cNvPr>
          <p:cNvCxnSpPr/>
          <p:nvPr/>
        </p:nvCxnSpPr>
        <p:spPr>
          <a:xfrm flipV="1">
            <a:off x="1474472" y="3737558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מחבר ישר 14">
            <a:extLst>
              <a:ext uri="{FF2B5EF4-FFF2-40B4-BE49-F238E27FC236}">
                <a16:creationId xmlns:a16="http://schemas.microsoft.com/office/drawing/2014/main" id="{9DF6D32D-1A88-387D-6F27-443E204C9612}"/>
              </a:ext>
            </a:extLst>
          </p:cNvPr>
          <p:cNvCxnSpPr>
            <a:cxnSpLocks/>
          </p:cNvCxnSpPr>
          <p:nvPr/>
        </p:nvCxnSpPr>
        <p:spPr>
          <a:xfrm>
            <a:off x="1474472" y="3737558"/>
            <a:ext cx="3582082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מחבר ישר 15">
            <a:extLst>
              <a:ext uri="{FF2B5EF4-FFF2-40B4-BE49-F238E27FC236}">
                <a16:creationId xmlns:a16="http://schemas.microsoft.com/office/drawing/2014/main" id="{DCBA4044-9B09-1613-A166-33FC9363641A}"/>
              </a:ext>
            </a:extLst>
          </p:cNvPr>
          <p:cNvCxnSpPr/>
          <p:nvPr/>
        </p:nvCxnSpPr>
        <p:spPr>
          <a:xfrm flipV="1">
            <a:off x="1474472" y="3598127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מחבר ישר 16">
            <a:extLst>
              <a:ext uri="{FF2B5EF4-FFF2-40B4-BE49-F238E27FC236}">
                <a16:creationId xmlns:a16="http://schemas.microsoft.com/office/drawing/2014/main" id="{6EC180F4-A62F-D85B-A74D-136FEE94F0D8}"/>
              </a:ext>
            </a:extLst>
          </p:cNvPr>
          <p:cNvCxnSpPr>
            <a:cxnSpLocks/>
          </p:cNvCxnSpPr>
          <p:nvPr/>
        </p:nvCxnSpPr>
        <p:spPr>
          <a:xfrm>
            <a:off x="5056554" y="3294743"/>
            <a:ext cx="0" cy="2910672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466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5FC7FC-6446-7E99-CEF6-B8DC7A38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227BA-04DD-4726-08B6-368FD4592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rgbClr val="FFFFFF"/>
                </a:solidFill>
              </a:rPr>
              <a:t>Bl</a:t>
            </a:r>
            <a:r>
              <a:rPr lang="en-US" sz="3600" b="1" dirty="0">
                <a:solidFill>
                  <a:srgbClr val="FFFFFF"/>
                </a:solidFill>
              </a:rPr>
              <a:t>ockchain – </a:t>
            </a:r>
            <a:r>
              <a:rPr lang="he-IL" sz="3600" b="1" dirty="0">
                <a:solidFill>
                  <a:srgbClr val="FFFFFF"/>
                </a:solidFill>
              </a:rPr>
              <a:t>הדגמת הוכחת </a:t>
            </a:r>
            <a:r>
              <a:rPr lang="he-IL" sz="3600" b="1" dirty="0" err="1">
                <a:solidFill>
                  <a:srgbClr val="FFFFFF"/>
                </a:solidFill>
              </a:rPr>
              <a:t>טרנזקציה</a:t>
            </a:r>
            <a:endParaRPr sz="3600" b="1" dirty="0">
              <a:solidFill>
                <a:srgbClr val="FFFFFF"/>
              </a:solidFill>
            </a:endParaRPr>
          </a:p>
        </p:txBody>
      </p:sp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0FCEC020-1912-6F87-53C3-3EDF188E9B08}"/>
              </a:ext>
            </a:extLst>
          </p:cNvPr>
          <p:cNvSpPr txBox="1"/>
          <p:nvPr/>
        </p:nvSpPr>
        <p:spPr>
          <a:xfrm>
            <a:off x="5230091" y="2907077"/>
            <a:ext cx="3844636" cy="224676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" sz="1400" b="1" dirty="0" err="1">
                <a:solidFill>
                  <a:srgbClr val="FFFFFF"/>
                </a:solidFill>
              </a:rPr>
              <a:t>demoProofSearch</a:t>
            </a:r>
            <a:r>
              <a:rPr lang="he-IL" sz="1400" b="1" dirty="0">
                <a:solidFill>
                  <a:srgbClr val="FFFFFF"/>
                </a:solidFill>
              </a:rPr>
              <a:t> היא פונקציית הדגמה ב</a:t>
            </a:r>
            <a:r>
              <a:rPr lang="en-US" sz="1400" b="1" dirty="0">
                <a:solidFill>
                  <a:srgbClr val="FFFFFF"/>
                </a:solidFill>
              </a:rPr>
              <a:t>main</a:t>
            </a:r>
            <a:r>
              <a:rPr lang="he-IL" sz="1400" b="1" dirty="0">
                <a:solidFill>
                  <a:srgbClr val="FFFFFF"/>
                </a:solidFill>
              </a:rPr>
              <a:t> שמראה את כל התהליך של הוכחת </a:t>
            </a:r>
            <a:r>
              <a:rPr lang="he-IL" sz="1400" b="1" dirty="0" err="1">
                <a:solidFill>
                  <a:srgbClr val="FFFFFF"/>
                </a:solidFill>
              </a:rPr>
              <a:t>טרנזקציה</a:t>
            </a:r>
            <a:r>
              <a:rPr lang="he-IL" sz="1400" b="1" dirty="0">
                <a:solidFill>
                  <a:srgbClr val="FFFFFF"/>
                </a:solidFill>
              </a:rPr>
              <a:t>: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בוחרת </a:t>
            </a:r>
            <a:r>
              <a:rPr lang="he-IL" sz="1400" b="1" dirty="0" err="1">
                <a:solidFill>
                  <a:srgbClr val="FFFFFF"/>
                </a:solidFill>
              </a:rPr>
              <a:t>טרנזקציה</a:t>
            </a:r>
            <a:r>
              <a:rPr lang="he-IL" sz="1400" b="1" dirty="0">
                <a:solidFill>
                  <a:srgbClr val="FFFFFF"/>
                </a:solidFill>
              </a:rPr>
              <a:t> רנדומלית </a:t>
            </a:r>
            <a:r>
              <a:rPr lang="he-IL" sz="1400" b="1" dirty="0" err="1">
                <a:solidFill>
                  <a:srgbClr val="FFFFFF"/>
                </a:solidFill>
              </a:rPr>
              <a:t>מהבלוקצ׳יין</a:t>
            </a:r>
            <a:r>
              <a:rPr lang="he-IL" sz="1400" b="1" dirty="0">
                <a:solidFill>
                  <a:srgbClr val="FFFFFF"/>
                </a:solidFill>
              </a:rPr>
              <a:t> לא </a:t>
            </a:r>
            <a:r>
              <a:rPr lang="en-US" sz="1400" b="1" dirty="0" err="1">
                <a:solidFill>
                  <a:srgbClr val="FFFFFF"/>
                </a:solidFill>
              </a:rPr>
              <a:t>coinbase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מדפיסה לקונסול מי שולח, למי, וכמה.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קוראת ל־</a:t>
            </a:r>
            <a:r>
              <a:rPr lang="en" sz="1400" b="1" dirty="0" err="1">
                <a:solidFill>
                  <a:srgbClr val="FFFFFF"/>
                </a:solidFill>
              </a:rPr>
              <a:t>blockchain.findTransactionProof</a:t>
            </a:r>
            <a:r>
              <a:rPr lang="en" sz="1400" b="1" dirty="0">
                <a:solidFill>
                  <a:srgbClr val="FFFFFF"/>
                </a:solidFill>
              </a:rPr>
              <a:t> </a:t>
            </a:r>
            <a:r>
              <a:rPr lang="he-IL" sz="1400" b="1" dirty="0">
                <a:solidFill>
                  <a:srgbClr val="FFFFFF"/>
                </a:solidFill>
              </a:rPr>
              <a:t> כדי לקבל </a:t>
            </a:r>
            <a:r>
              <a:rPr lang="en-US" sz="1400" b="1" dirty="0">
                <a:solidFill>
                  <a:srgbClr val="FFFFFF"/>
                </a:solidFill>
              </a:rPr>
              <a:t> </a:t>
            </a:r>
            <a:r>
              <a:rPr lang="en" sz="1400" b="1" dirty="0">
                <a:solidFill>
                  <a:srgbClr val="FFFFFF"/>
                </a:solidFill>
              </a:rPr>
              <a:t>Merkle Proof</a:t>
            </a:r>
            <a:r>
              <a:rPr lang="he-IL" sz="1400" b="1" dirty="0" err="1">
                <a:solidFill>
                  <a:srgbClr val="FFFFFF"/>
                </a:solidFill>
              </a:rPr>
              <a:t>לטרנזקציה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אם התקבלה הוכחה – מאמתת אותה שוב מול הבלוק ומדפיסה אם ה־</a:t>
            </a:r>
            <a:r>
              <a:rPr lang="en" sz="1400" b="1" dirty="0">
                <a:solidFill>
                  <a:srgbClr val="FFFFFF"/>
                </a:solidFill>
              </a:rPr>
              <a:t>proof </a:t>
            </a:r>
            <a:r>
              <a:rPr lang="he-IL" sz="1400" b="1" dirty="0">
                <a:solidFill>
                  <a:srgbClr val="FFFFFF"/>
                </a:solidFill>
              </a:rPr>
              <a:t> תקף (</a:t>
            </a:r>
            <a:r>
              <a:rPr lang="en" sz="1400" b="1" dirty="0">
                <a:solidFill>
                  <a:srgbClr val="FFFFFF"/>
                </a:solidFill>
              </a:rPr>
              <a:t>proof valid? true/false).</a:t>
            </a:r>
            <a:endParaRPr lang="he-IL" sz="1400" b="1" dirty="0">
              <a:solidFill>
                <a:srgbClr val="FFFFFF"/>
              </a:solidFill>
            </a:endParaRP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8B6080BA-E502-3C4E-3E2D-44C7AAE5B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6" y="1589103"/>
            <a:ext cx="5127935" cy="488271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5" name="מחבר ישר 4">
            <a:extLst>
              <a:ext uri="{FF2B5EF4-FFF2-40B4-BE49-F238E27FC236}">
                <a16:creationId xmlns:a16="http://schemas.microsoft.com/office/drawing/2014/main" id="{594F59CB-B3EA-A036-6AD6-77E53AFB57B6}"/>
              </a:ext>
            </a:extLst>
          </p:cNvPr>
          <p:cNvCxnSpPr>
            <a:cxnSpLocks/>
          </p:cNvCxnSpPr>
          <p:nvPr/>
        </p:nvCxnSpPr>
        <p:spPr>
          <a:xfrm>
            <a:off x="1271272" y="4881266"/>
            <a:ext cx="3582082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" name="מחבר ישר 5">
            <a:extLst>
              <a:ext uri="{FF2B5EF4-FFF2-40B4-BE49-F238E27FC236}">
                <a16:creationId xmlns:a16="http://schemas.microsoft.com/office/drawing/2014/main" id="{0DA4D241-0CDB-CC99-4DC5-14FF2A2EB706}"/>
              </a:ext>
            </a:extLst>
          </p:cNvPr>
          <p:cNvCxnSpPr/>
          <p:nvPr/>
        </p:nvCxnSpPr>
        <p:spPr>
          <a:xfrm flipV="1">
            <a:off x="1271272" y="4741835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40163BA8-9266-02B5-3405-8B5DE1F0AE6C}"/>
              </a:ext>
            </a:extLst>
          </p:cNvPr>
          <p:cNvSpPr txBox="1"/>
          <p:nvPr/>
        </p:nvSpPr>
        <p:spPr>
          <a:xfrm>
            <a:off x="4174386" y="5231305"/>
            <a:ext cx="1357935" cy="461665"/>
          </a:xfrm>
          <a:prstGeom prst="rect">
            <a:avLst/>
          </a:prstGeom>
          <a:solidFill>
            <a:srgbClr val="1E1E1E"/>
          </a:solidFill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200" dirty="0">
                <a:solidFill>
                  <a:schemeClr val="bg1"/>
                </a:solidFill>
              </a:rPr>
              <a:t>מוסבר בשקף על בלוק</a:t>
            </a:r>
          </a:p>
        </p:txBody>
      </p:sp>
      <p:cxnSp>
        <p:nvCxnSpPr>
          <p:cNvPr id="8" name="מחבר ישר 7">
            <a:extLst>
              <a:ext uri="{FF2B5EF4-FFF2-40B4-BE49-F238E27FC236}">
                <a16:creationId xmlns:a16="http://schemas.microsoft.com/office/drawing/2014/main" id="{7F8B8F19-3A8C-B41B-B745-7D8D5F567EB8}"/>
              </a:ext>
            </a:extLst>
          </p:cNvPr>
          <p:cNvCxnSpPr>
            <a:cxnSpLocks/>
          </p:cNvCxnSpPr>
          <p:nvPr/>
        </p:nvCxnSpPr>
        <p:spPr>
          <a:xfrm>
            <a:off x="4853354" y="4881266"/>
            <a:ext cx="0" cy="2725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6412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rgbClr val="FFFFFF"/>
                </a:solidFill>
              </a:rPr>
              <a:t>Blockchain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6400EAD2-A1CF-581F-D29E-8F95AECF8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3" y="1496008"/>
            <a:ext cx="6139828" cy="15330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170B417-5F4E-2863-101D-6BBACA7DDDB3}"/>
              </a:ext>
            </a:extLst>
          </p:cNvPr>
          <p:cNvSpPr txBox="1"/>
          <p:nvPr/>
        </p:nvSpPr>
        <p:spPr>
          <a:xfrm>
            <a:off x="2529654" y="1235591"/>
            <a:ext cx="1397000" cy="30777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solidFill>
                  <a:srgbClr val="FFFFFF"/>
                </a:solidFill>
              </a:rPr>
              <a:t>מבנה </a:t>
            </a:r>
            <a:r>
              <a:rPr lang="he-IL" sz="1400" b="1" dirty="0" err="1">
                <a:solidFill>
                  <a:srgbClr val="FFFFFF"/>
                </a:solidFill>
              </a:rPr>
              <a:t>הבלוקצ׳יין</a:t>
            </a:r>
            <a:endParaRPr lang="he-IL" sz="1400" b="1" dirty="0">
              <a:solidFill>
                <a:srgbClr val="FFFFFF"/>
              </a:solidFill>
            </a:endParaRPr>
          </a:p>
        </p:txBody>
      </p:sp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1C5A28A6-A1CE-1C1F-AC57-0BEE5C8B3BD9}"/>
              </a:ext>
            </a:extLst>
          </p:cNvPr>
          <p:cNvSpPr txBox="1"/>
          <p:nvPr/>
        </p:nvSpPr>
        <p:spPr>
          <a:xfrm>
            <a:off x="4896028" y="3437356"/>
            <a:ext cx="3322626" cy="24622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מרבית ההגדרות שהוגדרו בדרישות העבודה נמצאות ב</a:t>
            </a:r>
            <a:r>
              <a:rPr lang="en-US" sz="1400" b="1" dirty="0">
                <a:solidFill>
                  <a:srgbClr val="FFFFFF"/>
                </a:solidFill>
              </a:rPr>
              <a:t>config</a:t>
            </a:r>
            <a:r>
              <a:rPr lang="he-IL" sz="1400" b="1" dirty="0">
                <a:solidFill>
                  <a:srgbClr val="FFFFFF"/>
                </a:solidFill>
              </a:rPr>
              <a:t> והן מגיעות מה</a:t>
            </a:r>
            <a:r>
              <a:rPr lang="en-US" sz="1400" b="1" dirty="0">
                <a:solidFill>
                  <a:srgbClr val="FFFFFF"/>
                </a:solidFill>
              </a:rPr>
              <a:t>main</a:t>
            </a:r>
            <a:r>
              <a:rPr lang="he-IL" sz="1400" b="1" dirty="0">
                <a:solidFill>
                  <a:srgbClr val="FFFFFF"/>
                </a:solidFill>
              </a:rPr>
              <a:t> כמו: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אתחול </a:t>
            </a:r>
            <a:r>
              <a:rPr lang="he-IL" sz="1400" b="1" dirty="0" err="1">
                <a:solidFill>
                  <a:srgbClr val="FFFFFF"/>
                </a:solidFill>
              </a:rPr>
              <a:t>הבלאנס</a:t>
            </a:r>
            <a:r>
              <a:rPr lang="he-IL" sz="1400" b="1" dirty="0">
                <a:solidFill>
                  <a:srgbClr val="FFFFFF"/>
                </a:solidFill>
              </a:rPr>
              <a:t> של הארנקים ל100.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יצירת ארנקים </a:t>
            </a:r>
            <a:r>
              <a:rPr lang="en-US" sz="1400" b="1" dirty="0">
                <a:solidFill>
                  <a:srgbClr val="FFFFFF"/>
                </a:solidFill>
              </a:rPr>
              <a:t>A-J</a:t>
            </a:r>
            <a:r>
              <a:rPr lang="he-IL" sz="1400" b="1" dirty="0">
                <a:solidFill>
                  <a:srgbClr val="FFFFFF"/>
                </a:solidFill>
              </a:rPr>
              <a:t> ויצירת כורים </a:t>
            </a:r>
            <a:r>
              <a:rPr lang="en-US" sz="1400" b="1" dirty="0">
                <a:solidFill>
                  <a:srgbClr val="FFFFFF"/>
                </a:solidFill>
              </a:rPr>
              <a:t>A-E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הגדרת כמות </a:t>
            </a:r>
            <a:r>
              <a:rPr lang="he-IL" sz="1400" b="1" dirty="0" err="1">
                <a:solidFill>
                  <a:srgbClr val="FFFFFF"/>
                </a:solidFill>
              </a:rPr>
              <a:t>הטרנזקציות</a:t>
            </a:r>
            <a:r>
              <a:rPr lang="he-IL" sz="1400" b="1" dirty="0">
                <a:solidFill>
                  <a:srgbClr val="FFFFFF"/>
                </a:solidFill>
              </a:rPr>
              <a:t> לבלוק לא כולל </a:t>
            </a:r>
            <a:r>
              <a:rPr lang="en-US" sz="1400" b="1" dirty="0" err="1">
                <a:solidFill>
                  <a:srgbClr val="FFFFFF"/>
                </a:solidFill>
              </a:rPr>
              <a:t>coinbase</a:t>
            </a:r>
            <a:r>
              <a:rPr lang="he-IL" sz="1400" b="1" dirty="0">
                <a:solidFill>
                  <a:srgbClr val="FFFFFF"/>
                </a:solidFill>
              </a:rPr>
              <a:t> ל50.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הגדרת העמלה ל2 מטבעות שישרפו.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והגדרת הטיפ לכורה ל3 מטבעות.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הגדרת התגמול על כרייה ל60.</a:t>
            </a:r>
          </a:p>
          <a:p>
            <a:pPr marL="285750" indent="-285750" algn="r" defTabSz="457200" rtl="1" eaLnBrk="1" latinLnBrk="0" hangingPunct="1"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FFFFFF"/>
                </a:solidFill>
              </a:rPr>
              <a:t>והגדרת ה</a:t>
            </a:r>
            <a:r>
              <a:rPr lang="en-US" sz="1400" b="1" dirty="0">
                <a:solidFill>
                  <a:srgbClr val="FFFFFF"/>
                </a:solidFill>
              </a:rPr>
              <a:t>hash</a:t>
            </a:r>
            <a:r>
              <a:rPr lang="he-IL" sz="1400" b="1" dirty="0">
                <a:solidFill>
                  <a:srgbClr val="FFFFFF"/>
                </a:solidFill>
              </a:rPr>
              <a:t> ההתחלתי ל</a:t>
            </a:r>
            <a:r>
              <a:rPr lang="en-US" sz="1400" b="1" dirty="0">
                <a:solidFill>
                  <a:srgbClr val="FFFFFF"/>
                </a:solidFill>
              </a:rPr>
              <a:t>42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891914E0-7DF3-EA6D-FEAD-B313E8D90C28}"/>
              </a:ext>
            </a:extLst>
          </p:cNvPr>
          <p:cNvSpPr txBox="1"/>
          <p:nvPr/>
        </p:nvSpPr>
        <p:spPr>
          <a:xfrm>
            <a:off x="6134100" y="1284082"/>
            <a:ext cx="2945437" cy="224676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 err="1">
                <a:solidFill>
                  <a:srgbClr val="FFFFFF"/>
                </a:solidFill>
              </a:rPr>
              <a:t>הבלוקצ׳יין</a:t>
            </a:r>
            <a:r>
              <a:rPr lang="he-IL" sz="1400" b="1" dirty="0">
                <a:solidFill>
                  <a:srgbClr val="FFFFFF"/>
                </a:solidFill>
              </a:rPr>
              <a:t> משתמש ב</a:t>
            </a:r>
            <a:r>
              <a:rPr lang="en" sz="1400" b="1" dirty="0" err="1">
                <a:solidFill>
                  <a:srgbClr val="FFFFFF"/>
                </a:solidFill>
              </a:rPr>
              <a:t>BalancesState</a:t>
            </a:r>
            <a:r>
              <a:rPr lang="he-IL" sz="1400" b="1" dirty="0">
                <a:solidFill>
                  <a:srgbClr val="FFFFFF"/>
                </a:solidFill>
              </a:rPr>
              <a:t> כדי לעקוב אחר התנועות בין הארנקים, בשביל להדפיס תוצרת המאזן של כל ארנק</a:t>
            </a:r>
            <a:r>
              <a:rPr lang="en-US" sz="1400" b="1" dirty="0">
                <a:solidFill>
                  <a:srgbClr val="FFFFFF"/>
                </a:solidFill>
              </a:rPr>
              <a:t> </a:t>
            </a:r>
            <a:r>
              <a:rPr lang="he-IL" sz="1400" b="1" dirty="0">
                <a:solidFill>
                  <a:srgbClr val="FFFFFF"/>
                </a:solidFill>
              </a:rPr>
              <a:t>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he-IL" sz="1400" b="1" dirty="0" err="1">
                <a:solidFill>
                  <a:srgbClr val="FFFFFF"/>
                </a:solidFill>
              </a:rPr>
              <a:t>הבלוקצ׳יין</a:t>
            </a:r>
            <a:r>
              <a:rPr lang="he-IL" sz="1400" b="1" dirty="0">
                <a:solidFill>
                  <a:srgbClr val="FFFFFF"/>
                </a:solidFill>
              </a:rPr>
              <a:t> משתמש ב</a:t>
            </a:r>
            <a:r>
              <a:rPr lang="en" sz="1400" b="1" dirty="0">
                <a:solidFill>
                  <a:srgbClr val="FFFFFF"/>
                </a:solidFill>
              </a:rPr>
              <a:t>Ledger</a:t>
            </a:r>
            <a:r>
              <a:rPr lang="he-IL" sz="1400" b="1" dirty="0">
                <a:solidFill>
                  <a:srgbClr val="FFFFFF"/>
                </a:solidFill>
              </a:rPr>
              <a:t> כדי לעקוב אחר שינויים כלליים ברשת כמו יצירת מטבעות, שריפת מטבעות וכמות כוללת של מטבעות.</a:t>
            </a:r>
            <a:endParaRPr lang="en" sz="1400" b="1" dirty="0">
              <a:solidFill>
                <a:srgbClr val="FFFFFF"/>
              </a:solidFill>
            </a:endParaRP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67C2377E-1A2C-9788-9581-0513EA25431A}"/>
              </a:ext>
            </a:extLst>
          </p:cNvPr>
          <p:cNvSpPr txBox="1"/>
          <p:nvPr/>
        </p:nvSpPr>
        <p:spPr>
          <a:xfrm>
            <a:off x="1262695" y="3173988"/>
            <a:ext cx="2583952" cy="30777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 err="1">
                <a:solidFill>
                  <a:srgbClr val="FFFFFF"/>
                </a:solidFill>
              </a:rPr>
              <a:t>קונפיגורציית</a:t>
            </a:r>
            <a:r>
              <a:rPr lang="he-IL" sz="1400" b="1" dirty="0">
                <a:solidFill>
                  <a:srgbClr val="FFFFFF"/>
                </a:solidFill>
              </a:rPr>
              <a:t> הדרישות מה</a:t>
            </a:r>
            <a:r>
              <a:rPr lang="en-US" sz="1400" b="1" dirty="0">
                <a:solidFill>
                  <a:srgbClr val="FFFFFF"/>
                </a:solidFill>
              </a:rPr>
              <a:t>main</a:t>
            </a:r>
            <a:endParaRPr lang="he-IL" sz="1400" b="1" dirty="0">
              <a:solidFill>
                <a:srgbClr val="FFFFFF"/>
              </a:solidFill>
            </a:endParaRPr>
          </a:p>
        </p:txBody>
      </p:sp>
      <p:sp>
        <p:nvSpPr>
          <p:cNvPr id="22" name="תיבת טקסט 21">
            <a:extLst>
              <a:ext uri="{FF2B5EF4-FFF2-40B4-BE49-F238E27FC236}">
                <a16:creationId xmlns:a16="http://schemas.microsoft.com/office/drawing/2014/main" id="{E28C0FE1-F42A-939F-0D4F-877BDFD9E996}"/>
              </a:ext>
            </a:extLst>
          </p:cNvPr>
          <p:cNvSpPr txBox="1"/>
          <p:nvPr/>
        </p:nvSpPr>
        <p:spPr>
          <a:xfrm>
            <a:off x="5447515" y="6062141"/>
            <a:ext cx="2613536" cy="73866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ctr" defTabSz="457200" rtl="1" eaLnBrk="1" latinLnBrk="0" hangingPunct="1"/>
            <a:r>
              <a:rPr lang="he-IL" sz="1400" b="1" dirty="0">
                <a:solidFill>
                  <a:srgbClr val="FFFFFF"/>
                </a:solidFill>
              </a:rPr>
              <a:t>אתחול כל ה</a:t>
            </a:r>
            <a:r>
              <a:rPr lang="en-US" sz="1400" b="1" dirty="0">
                <a:solidFill>
                  <a:srgbClr val="FFFFFF"/>
                </a:solidFill>
              </a:rPr>
              <a:t>balance</a:t>
            </a:r>
            <a:r>
              <a:rPr lang="he-IL" sz="1400" b="1" dirty="0">
                <a:solidFill>
                  <a:srgbClr val="FFFFFF"/>
                </a:solidFill>
              </a:rPr>
              <a:t> של כל הארנקים ל100 על בסיס </a:t>
            </a:r>
            <a:r>
              <a:rPr lang="he-IL" sz="1400" b="1" dirty="0" err="1">
                <a:solidFill>
                  <a:srgbClr val="FFFFFF"/>
                </a:solidFill>
              </a:rPr>
              <a:t>הקונפיג</a:t>
            </a:r>
            <a:r>
              <a:rPr lang="he-IL" sz="1400" b="1" dirty="0">
                <a:solidFill>
                  <a:srgbClr val="FFFFFF"/>
                </a:solidFill>
              </a:rPr>
              <a:t> שהוגדר ב</a:t>
            </a:r>
            <a:r>
              <a:rPr lang="en-US" sz="1400" b="1" dirty="0">
                <a:solidFill>
                  <a:srgbClr val="FFFFFF"/>
                </a:solidFill>
              </a:rPr>
              <a:t>main</a:t>
            </a:r>
            <a:endParaRPr lang="he-IL" sz="1400" b="1" dirty="0">
              <a:solidFill>
                <a:srgbClr val="FFFFFF"/>
              </a:solidFill>
            </a:endParaRP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59071CFD-4E4A-991A-2931-83A4A080E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3" y="3437356"/>
            <a:ext cx="4831565" cy="266320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C86CEDBE-D069-6FD7-6E2B-9CA81C1F5A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8134" y="5384208"/>
            <a:ext cx="3257026" cy="135586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FA7029-62D4-086A-C12A-AFBC52F5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>
            <a:extLst>
              <a:ext uri="{FF2B5EF4-FFF2-40B4-BE49-F238E27FC236}">
                <a16:creationId xmlns:a16="http://schemas.microsoft.com/office/drawing/2014/main" id="{8BD7FFE8-A9E9-2726-871A-6645E86AD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0" y="1181316"/>
            <a:ext cx="5699355" cy="544671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4EBE08-9362-F072-F144-95CFB57D7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e-IL" sz="3600" b="1" dirty="0">
                <a:solidFill>
                  <a:srgbClr val="FFFFFF"/>
                </a:solidFill>
              </a:rPr>
              <a:t>כרייה – יצירת מטבעות עמלות ושירפה</a:t>
            </a:r>
            <a:endParaRPr sz="3600" b="1" dirty="0">
              <a:solidFill>
                <a:srgbClr val="FFFFFF"/>
              </a:solidFill>
            </a:endParaRPr>
          </a:p>
        </p:txBody>
      </p:sp>
      <p:cxnSp>
        <p:nvCxnSpPr>
          <p:cNvPr id="30" name="מחבר ישר 29">
            <a:extLst>
              <a:ext uri="{FF2B5EF4-FFF2-40B4-BE49-F238E27FC236}">
                <a16:creationId xmlns:a16="http://schemas.microsoft.com/office/drawing/2014/main" id="{39A0745B-B914-A2FB-F699-352BAD50ECBB}"/>
              </a:ext>
            </a:extLst>
          </p:cNvPr>
          <p:cNvCxnSpPr>
            <a:cxnSpLocks/>
          </p:cNvCxnSpPr>
          <p:nvPr/>
        </p:nvCxnSpPr>
        <p:spPr>
          <a:xfrm flipV="1">
            <a:off x="1362100" y="3350709"/>
            <a:ext cx="3462315" cy="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מחבר ישר 30">
            <a:extLst>
              <a:ext uri="{FF2B5EF4-FFF2-40B4-BE49-F238E27FC236}">
                <a16:creationId xmlns:a16="http://schemas.microsoft.com/office/drawing/2014/main" id="{2182BB3C-1EC2-7275-E11A-418D1C07264F}"/>
              </a:ext>
            </a:extLst>
          </p:cNvPr>
          <p:cNvCxnSpPr/>
          <p:nvPr/>
        </p:nvCxnSpPr>
        <p:spPr>
          <a:xfrm flipV="1">
            <a:off x="1362100" y="3211279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2" name="תיבת טקסט 31">
            <a:extLst>
              <a:ext uri="{FF2B5EF4-FFF2-40B4-BE49-F238E27FC236}">
                <a16:creationId xmlns:a16="http://schemas.microsoft.com/office/drawing/2014/main" id="{DFFB047C-8748-9C39-B879-4695C2252697}"/>
              </a:ext>
            </a:extLst>
          </p:cNvPr>
          <p:cNvSpPr txBox="1"/>
          <p:nvPr/>
        </p:nvSpPr>
        <p:spPr>
          <a:xfrm>
            <a:off x="4929233" y="2965989"/>
            <a:ext cx="4009491" cy="769441"/>
          </a:xfrm>
          <a:prstGeom prst="rect">
            <a:avLst/>
          </a:prstGeom>
          <a:solidFill>
            <a:srgbClr val="1E1E1E"/>
          </a:solidFill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algn="ctr" rtl="1"/>
            <a:r>
              <a:rPr lang="he-IL" sz="1100" b="1" dirty="0">
                <a:solidFill>
                  <a:srgbClr val="FFFFFF"/>
                </a:solidFill>
              </a:rPr>
              <a:t>ה</a:t>
            </a:r>
            <a:r>
              <a:rPr lang="en-US" sz="1100" b="1" dirty="0" err="1">
                <a:solidFill>
                  <a:srgbClr val="FFFFFF"/>
                </a:solidFill>
              </a:rPr>
              <a:t>minerDcheduler</a:t>
            </a:r>
            <a:r>
              <a:rPr lang="he-IL" sz="1100" b="1" dirty="0">
                <a:solidFill>
                  <a:srgbClr val="FFFFFF"/>
                </a:solidFill>
              </a:rPr>
              <a:t> יוצר מקבץ של מקסימום 50 </a:t>
            </a:r>
            <a:r>
              <a:rPr lang="he-IL" sz="1100" b="1" dirty="0" err="1">
                <a:solidFill>
                  <a:srgbClr val="FFFFFF"/>
                </a:solidFill>
              </a:rPr>
              <a:t>טרנזקציות</a:t>
            </a:r>
            <a:r>
              <a:rPr lang="he-IL" sz="1100" b="1" dirty="0">
                <a:solidFill>
                  <a:srgbClr val="FFFFFF"/>
                </a:solidFill>
              </a:rPr>
              <a:t> לפי שהוגדר </a:t>
            </a:r>
            <a:r>
              <a:rPr lang="he-IL" sz="1100" b="1" dirty="0" err="1">
                <a:solidFill>
                  <a:srgbClr val="FFFFFF"/>
                </a:solidFill>
              </a:rPr>
              <a:t>בקונפיג</a:t>
            </a:r>
            <a:r>
              <a:rPr lang="he-IL" sz="1100" b="1" dirty="0">
                <a:solidFill>
                  <a:srgbClr val="FFFFFF"/>
                </a:solidFill>
              </a:rPr>
              <a:t> ב</a:t>
            </a:r>
            <a:r>
              <a:rPr lang="en-US" sz="1100" b="1" dirty="0">
                <a:solidFill>
                  <a:srgbClr val="FFFFFF"/>
                </a:solidFill>
              </a:rPr>
              <a:t>main</a:t>
            </a:r>
            <a:r>
              <a:rPr lang="he-IL" sz="1100" b="1" dirty="0">
                <a:solidFill>
                  <a:srgbClr val="FFFFFF"/>
                </a:solidFill>
              </a:rPr>
              <a:t> בשדה </a:t>
            </a:r>
            <a:r>
              <a:rPr lang="en" sz="1100" b="1" dirty="0" err="1">
                <a:solidFill>
                  <a:srgbClr val="FFFFFF"/>
                </a:solidFill>
              </a:rPr>
              <a:t>transactionsPerBlock</a:t>
            </a:r>
            <a:r>
              <a:rPr lang="he-IL" sz="1100" b="1" dirty="0">
                <a:solidFill>
                  <a:srgbClr val="FFFFFF"/>
                </a:solidFill>
              </a:rPr>
              <a:t>, אם אין עוד מספיק </a:t>
            </a:r>
            <a:r>
              <a:rPr lang="he-IL" sz="1100" b="1" dirty="0" err="1">
                <a:solidFill>
                  <a:srgbClr val="FFFFFF"/>
                </a:solidFill>
              </a:rPr>
              <a:t>טרנזקציות</a:t>
            </a:r>
            <a:r>
              <a:rPr lang="he-IL" sz="1100" b="1" dirty="0">
                <a:solidFill>
                  <a:srgbClr val="FFFFFF"/>
                </a:solidFill>
              </a:rPr>
              <a:t> במאגר יצא מקבץ קצר יותר, מקבץ זה עובר ל</a:t>
            </a:r>
            <a:r>
              <a:rPr lang="en-US" sz="1100" b="1" dirty="0">
                <a:solidFill>
                  <a:srgbClr val="FFFFFF"/>
                </a:solidFill>
              </a:rPr>
              <a:t>miner</a:t>
            </a:r>
            <a:r>
              <a:rPr lang="he-IL" sz="1100" b="1" dirty="0">
                <a:solidFill>
                  <a:srgbClr val="FFFFFF"/>
                </a:solidFill>
              </a:rPr>
              <a:t> שיכניס אותן לבלוק בתהליך הכרייה.</a:t>
            </a:r>
            <a:endParaRPr lang="en" sz="1100" b="1" dirty="0">
              <a:solidFill>
                <a:srgbClr val="FFFFFF"/>
              </a:solidFill>
            </a:endParaRP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D4789D02-91A8-E111-1FAA-85BFBA84C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233" y="4074061"/>
            <a:ext cx="3780996" cy="173939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7" name="מחבר ישר 6">
            <a:extLst>
              <a:ext uri="{FF2B5EF4-FFF2-40B4-BE49-F238E27FC236}">
                <a16:creationId xmlns:a16="http://schemas.microsoft.com/office/drawing/2014/main" id="{9BB3C227-9E9E-7544-F873-A565E445F8C1}"/>
              </a:ext>
            </a:extLst>
          </p:cNvPr>
          <p:cNvCxnSpPr>
            <a:cxnSpLocks/>
          </p:cNvCxnSpPr>
          <p:nvPr/>
        </p:nvCxnSpPr>
        <p:spPr>
          <a:xfrm>
            <a:off x="6283928" y="3735715"/>
            <a:ext cx="0" cy="367559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מלבן 8">
            <a:extLst>
              <a:ext uri="{FF2B5EF4-FFF2-40B4-BE49-F238E27FC236}">
                <a16:creationId xmlns:a16="http://schemas.microsoft.com/office/drawing/2014/main" id="{E5D36475-D04A-3A07-9FB2-6E98BE18A779}"/>
              </a:ext>
            </a:extLst>
          </p:cNvPr>
          <p:cNvSpPr/>
          <p:nvPr/>
        </p:nvSpPr>
        <p:spPr>
          <a:xfrm>
            <a:off x="740228" y="4695091"/>
            <a:ext cx="2245967" cy="12267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457200" rtl="0" eaLnBrk="1" latinLnBrk="0" hangingPunct="1"/>
            <a:endParaRPr lang="he-IL"/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19A2402E-D615-26DF-DB37-5E1658CA70AE}"/>
              </a:ext>
            </a:extLst>
          </p:cNvPr>
          <p:cNvSpPr txBox="1"/>
          <p:nvPr/>
        </p:nvSpPr>
        <p:spPr>
          <a:xfrm>
            <a:off x="3156475" y="5201209"/>
            <a:ext cx="1667940" cy="1277273"/>
          </a:xfrm>
          <a:prstGeom prst="rect">
            <a:avLst/>
          </a:prstGeom>
          <a:solidFill>
            <a:srgbClr val="1E1E1E"/>
          </a:solidFill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algn="ctr" rtl="1"/>
            <a:r>
              <a:rPr lang="he-IL" sz="1100" b="1" dirty="0">
                <a:solidFill>
                  <a:srgbClr val="FFFFFF"/>
                </a:solidFill>
              </a:rPr>
              <a:t>יצירת </a:t>
            </a:r>
            <a:r>
              <a:rPr lang="he-IL" sz="1100" b="1" dirty="0" err="1">
                <a:solidFill>
                  <a:srgbClr val="FFFFFF"/>
                </a:solidFill>
              </a:rPr>
              <a:t>טרנזקציית</a:t>
            </a:r>
            <a:r>
              <a:rPr lang="he-IL" sz="1100" b="1" dirty="0">
                <a:solidFill>
                  <a:srgbClr val="FFFFFF"/>
                </a:solidFill>
              </a:rPr>
              <a:t> </a:t>
            </a:r>
            <a:r>
              <a:rPr lang="en-US" sz="1100" b="1" dirty="0" err="1">
                <a:solidFill>
                  <a:srgbClr val="FFFFFF"/>
                </a:solidFill>
              </a:rPr>
              <a:t>coinbase</a:t>
            </a:r>
            <a:r>
              <a:rPr lang="en-US" sz="1100" b="1" dirty="0">
                <a:solidFill>
                  <a:srgbClr val="FFFFFF"/>
                </a:solidFill>
              </a:rPr>
              <a:t> </a:t>
            </a:r>
            <a:r>
              <a:rPr lang="he-IL" sz="1100" b="1" dirty="0">
                <a:solidFill>
                  <a:srgbClr val="FFFFFF"/>
                </a:solidFill>
              </a:rPr>
              <a:t> המכילה תגמול שמוגדר </a:t>
            </a:r>
            <a:r>
              <a:rPr lang="he-IL" sz="1100" b="1" dirty="0" err="1">
                <a:solidFill>
                  <a:srgbClr val="FFFFFF"/>
                </a:solidFill>
              </a:rPr>
              <a:t>מקונפיג</a:t>
            </a:r>
            <a:r>
              <a:rPr lang="he-IL" sz="1100" b="1" dirty="0">
                <a:solidFill>
                  <a:srgbClr val="FFFFFF"/>
                </a:solidFill>
              </a:rPr>
              <a:t>(60) ואת סך כל הטיפים שנאספו </a:t>
            </a:r>
            <a:r>
              <a:rPr lang="he-IL" sz="1100" b="1" dirty="0" err="1">
                <a:solidFill>
                  <a:srgbClr val="FFFFFF"/>
                </a:solidFill>
              </a:rPr>
              <a:t>מהטרנזקציות</a:t>
            </a:r>
            <a:r>
              <a:rPr lang="he-IL" sz="1100" b="1" dirty="0">
                <a:solidFill>
                  <a:srgbClr val="FFFFFF"/>
                </a:solidFill>
              </a:rPr>
              <a:t> שנכנסו לבלוק, והכנסתה לסוף התור.</a:t>
            </a:r>
            <a:endParaRPr lang="en" sz="1100" b="1" dirty="0">
              <a:solidFill>
                <a:srgbClr val="FFFFFF"/>
              </a:solidFill>
            </a:endParaRPr>
          </a:p>
        </p:txBody>
      </p:sp>
      <p:cxnSp>
        <p:nvCxnSpPr>
          <p:cNvPr id="11" name="מחבר ישר 10">
            <a:extLst>
              <a:ext uri="{FF2B5EF4-FFF2-40B4-BE49-F238E27FC236}">
                <a16:creationId xmlns:a16="http://schemas.microsoft.com/office/drawing/2014/main" id="{134FDDA8-D1A9-9255-0F33-22B63F9ABE48}"/>
              </a:ext>
            </a:extLst>
          </p:cNvPr>
          <p:cNvCxnSpPr>
            <a:cxnSpLocks/>
          </p:cNvCxnSpPr>
          <p:nvPr/>
        </p:nvCxnSpPr>
        <p:spPr>
          <a:xfrm>
            <a:off x="2986195" y="5625825"/>
            <a:ext cx="170280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מחבר ישר 15">
            <a:extLst>
              <a:ext uri="{FF2B5EF4-FFF2-40B4-BE49-F238E27FC236}">
                <a16:creationId xmlns:a16="http://schemas.microsoft.com/office/drawing/2014/main" id="{8D7BD6B3-A3D0-9541-729D-80002AFFA8F7}"/>
              </a:ext>
            </a:extLst>
          </p:cNvPr>
          <p:cNvCxnSpPr>
            <a:cxnSpLocks/>
          </p:cNvCxnSpPr>
          <p:nvPr/>
        </p:nvCxnSpPr>
        <p:spPr>
          <a:xfrm>
            <a:off x="2151966" y="3772198"/>
            <a:ext cx="1312203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מחבר ישר 16">
            <a:extLst>
              <a:ext uri="{FF2B5EF4-FFF2-40B4-BE49-F238E27FC236}">
                <a16:creationId xmlns:a16="http://schemas.microsoft.com/office/drawing/2014/main" id="{B70D4FBC-3FF4-EC47-4DA3-6DD12A673761}"/>
              </a:ext>
            </a:extLst>
          </p:cNvPr>
          <p:cNvCxnSpPr/>
          <p:nvPr/>
        </p:nvCxnSpPr>
        <p:spPr>
          <a:xfrm flipV="1">
            <a:off x="2151966" y="3632767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733EF56D-7C91-13CF-6D72-12DAC3D20BE9}"/>
              </a:ext>
            </a:extLst>
          </p:cNvPr>
          <p:cNvSpPr txBox="1"/>
          <p:nvPr/>
        </p:nvSpPr>
        <p:spPr>
          <a:xfrm>
            <a:off x="3507346" y="3630417"/>
            <a:ext cx="1225848" cy="261610"/>
          </a:xfrm>
          <a:prstGeom prst="rect">
            <a:avLst/>
          </a:prstGeom>
          <a:solidFill>
            <a:srgbClr val="1E1E1E"/>
          </a:solidFill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algn="ctr" rtl="1"/>
            <a:r>
              <a:rPr lang="he-IL" sz="1100" b="1" dirty="0">
                <a:solidFill>
                  <a:srgbClr val="FFFFFF"/>
                </a:solidFill>
              </a:rPr>
              <a:t>מוסבר בשקף הבא</a:t>
            </a:r>
            <a:endParaRPr lang="en" sz="11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4760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128441-B1F2-CAC6-C82B-37C3AE19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3F78F-1298-E194-8896-E511DBCB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e-IL" sz="3600" b="1" dirty="0">
                <a:solidFill>
                  <a:srgbClr val="FFFFFF"/>
                </a:solidFill>
              </a:rPr>
              <a:t>כרייה – יצירת מטבעות עמלות ושירפה</a:t>
            </a:r>
            <a:endParaRPr sz="3600" b="1" dirty="0">
              <a:solidFill>
                <a:srgbClr val="FFFFFF"/>
              </a:solidFill>
            </a:endParaRP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4DF52DD6-51D9-502A-BCA7-8B1DF540717F}"/>
              </a:ext>
            </a:extLst>
          </p:cNvPr>
          <p:cNvSpPr txBox="1"/>
          <p:nvPr/>
        </p:nvSpPr>
        <p:spPr>
          <a:xfrm>
            <a:off x="69193" y="1156373"/>
            <a:ext cx="3469454" cy="30777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defTabSz="457200" rtl="0" eaLnBrk="1" latinLnBrk="0" hangingPunct="1"/>
            <a:r>
              <a:rPr lang="en-US" sz="1400" b="1" dirty="0">
                <a:solidFill>
                  <a:srgbClr val="FFFFFF"/>
                </a:solidFill>
              </a:rPr>
              <a:t>Miner – mine block</a:t>
            </a:r>
            <a:endParaRPr lang="he-IL" sz="1400" b="1" dirty="0">
              <a:solidFill>
                <a:srgbClr val="FFFFFF"/>
              </a:solidFill>
            </a:endParaRP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D05C185-F9CE-37A8-00FC-42B258908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3" y="1417638"/>
            <a:ext cx="5220193" cy="347713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26B1AC69-CB32-CBAB-97D7-8AD067B0A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311" y="2942113"/>
            <a:ext cx="5802150" cy="309565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9" name="מחבר ישר 8">
            <a:extLst>
              <a:ext uri="{FF2B5EF4-FFF2-40B4-BE49-F238E27FC236}">
                <a16:creationId xmlns:a16="http://schemas.microsoft.com/office/drawing/2014/main" id="{83653774-92CC-5FE9-15E0-914DC377DA19}"/>
              </a:ext>
            </a:extLst>
          </p:cNvPr>
          <p:cNvCxnSpPr>
            <a:cxnSpLocks/>
          </p:cNvCxnSpPr>
          <p:nvPr/>
        </p:nvCxnSpPr>
        <p:spPr>
          <a:xfrm>
            <a:off x="3713164" y="3451700"/>
            <a:ext cx="2464898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" name="מחבר ישר 9">
            <a:extLst>
              <a:ext uri="{FF2B5EF4-FFF2-40B4-BE49-F238E27FC236}">
                <a16:creationId xmlns:a16="http://schemas.microsoft.com/office/drawing/2014/main" id="{AE05D007-4E69-85F2-069C-5E6F2C39E036}"/>
              </a:ext>
            </a:extLst>
          </p:cNvPr>
          <p:cNvCxnSpPr/>
          <p:nvPr/>
        </p:nvCxnSpPr>
        <p:spPr>
          <a:xfrm flipV="1">
            <a:off x="3713164" y="3312269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A745DF1F-4D43-4DE9-E2E4-2E743D2EE1A1}"/>
              </a:ext>
            </a:extLst>
          </p:cNvPr>
          <p:cNvSpPr txBox="1"/>
          <p:nvPr/>
        </p:nvSpPr>
        <p:spPr>
          <a:xfrm>
            <a:off x="6246714" y="3298195"/>
            <a:ext cx="1225848" cy="261610"/>
          </a:xfrm>
          <a:prstGeom prst="rect">
            <a:avLst/>
          </a:prstGeom>
          <a:solidFill>
            <a:srgbClr val="1E1E1E"/>
          </a:solidFill>
          <a:ln>
            <a:solidFill>
              <a:srgbClr val="FF0000"/>
            </a:solidFill>
          </a:ln>
        </p:spPr>
        <p:txBody>
          <a:bodyPr wrap="square" rtlCol="1">
            <a:spAutoFit/>
          </a:bodyPr>
          <a:lstStyle/>
          <a:p>
            <a:pPr algn="ctr" rtl="1"/>
            <a:r>
              <a:rPr lang="he-IL" sz="1100" b="1" dirty="0">
                <a:solidFill>
                  <a:srgbClr val="FFFFFF"/>
                </a:solidFill>
              </a:rPr>
              <a:t>מוסבר בשקף הבא</a:t>
            </a:r>
            <a:endParaRPr lang="en" sz="11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710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6EB112-5EB3-1074-1A32-6EF6913E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D0427-EDFB-C54F-E2E2-C6AF273D0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e-IL" sz="3600" b="1" dirty="0">
                <a:solidFill>
                  <a:srgbClr val="FFFFFF"/>
                </a:solidFill>
              </a:rPr>
              <a:t>כרייה – יצירת מטבעות עמלות ושירפה</a:t>
            </a:r>
            <a:endParaRPr sz="3600" b="1" dirty="0">
              <a:solidFill>
                <a:srgbClr val="FFFFFF"/>
              </a:solidFill>
            </a:endParaRP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6C266058-AE13-3BB9-4F98-5CA6607243B7}"/>
              </a:ext>
            </a:extLst>
          </p:cNvPr>
          <p:cNvSpPr txBox="1"/>
          <p:nvPr/>
        </p:nvSpPr>
        <p:spPr>
          <a:xfrm>
            <a:off x="69193" y="1156373"/>
            <a:ext cx="3469454" cy="30777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defTabSz="457200" rtl="0" eaLnBrk="1" latinLnBrk="0" hangingPunct="1"/>
            <a:r>
              <a:rPr lang="en-US" sz="1400" b="1" dirty="0">
                <a:solidFill>
                  <a:srgbClr val="FFFFFF"/>
                </a:solidFill>
              </a:rPr>
              <a:t>Miner – mine block</a:t>
            </a:r>
            <a:endParaRPr lang="he-IL" sz="1400" b="1" dirty="0">
              <a:solidFill>
                <a:srgbClr val="FFFFFF"/>
              </a:solidFill>
            </a:endParaRP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346C1E1F-C06B-DF68-344E-DC85558FB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78" y="1477372"/>
            <a:ext cx="6072809" cy="390325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D1B400D2-7BCA-0443-68FB-FFA9A077AF41}"/>
              </a:ext>
            </a:extLst>
          </p:cNvPr>
          <p:cNvSpPr txBox="1"/>
          <p:nvPr/>
        </p:nvSpPr>
        <p:spPr>
          <a:xfrm>
            <a:off x="5734544" y="2767011"/>
            <a:ext cx="3278478" cy="938719"/>
          </a:xfrm>
          <a:prstGeom prst="rect">
            <a:avLst/>
          </a:prstGeom>
          <a:noFill/>
          <a:ln>
            <a:noFill/>
          </a:ln>
        </p:spPr>
        <p:txBody>
          <a:bodyPr wrap="square" rtlCol="1">
            <a:spAutoFit/>
          </a:bodyPr>
          <a:lstStyle/>
          <a:p>
            <a:pPr algn="ctr" rtl="1"/>
            <a:r>
              <a:rPr lang="he-IL" sz="1100" b="1" dirty="0" err="1">
                <a:highlight>
                  <a:srgbClr val="FFFF00"/>
                </a:highlight>
              </a:rPr>
              <a:t>בטרנזקציה</a:t>
            </a:r>
            <a:r>
              <a:rPr lang="he-IL" sz="1100" b="1" dirty="0">
                <a:highlight>
                  <a:srgbClr val="FFFF00"/>
                </a:highlight>
              </a:rPr>
              <a:t> מוגדר הסכום העמלה והטיפ, כך כאשר </a:t>
            </a:r>
            <a:r>
              <a:rPr lang="he-IL" sz="1100" b="1" dirty="0" err="1">
                <a:highlight>
                  <a:srgbClr val="FFFF00"/>
                </a:highlight>
              </a:rPr>
              <a:t>הטרנזקציה</a:t>
            </a:r>
            <a:r>
              <a:rPr lang="he-IL" sz="1100" b="1" dirty="0">
                <a:highlight>
                  <a:srgbClr val="FFFF00"/>
                </a:highlight>
              </a:rPr>
              <a:t> נרשמת מחושב הסכום שכולל את </a:t>
            </a:r>
            <a:r>
              <a:rPr lang="he-IL" sz="1100" b="1" dirty="0" err="1">
                <a:highlight>
                  <a:srgbClr val="FFFF00"/>
                </a:highlight>
              </a:rPr>
              <a:t>הכל</a:t>
            </a:r>
            <a:r>
              <a:rPr lang="he-IL" sz="1100" b="1" dirty="0">
                <a:highlight>
                  <a:srgbClr val="FFFF00"/>
                </a:highlight>
              </a:rPr>
              <a:t> והוא זה שנלקח מהשולח, המקבל מקבל את הסכום הבסיסי והכורה מקבל את כל הטיפים.</a:t>
            </a:r>
            <a:br>
              <a:rPr lang="en-US" sz="1100" b="1" dirty="0">
                <a:highlight>
                  <a:srgbClr val="FFFF00"/>
                </a:highlight>
              </a:rPr>
            </a:br>
            <a:r>
              <a:rPr lang="he-IL" sz="1100" b="1" dirty="0">
                <a:highlight>
                  <a:srgbClr val="FFFF00"/>
                </a:highlight>
              </a:rPr>
              <a:t>כך יוצא שהעמלה נשרפת.</a:t>
            </a:r>
            <a:endParaRPr lang="en" sz="1100" b="1" dirty="0">
              <a:highlight>
                <a:srgbClr val="FFFF00"/>
              </a:highlight>
            </a:endParaRP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7B861C7D-6FEC-E229-1D87-AFE9DABD7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847" y="4006225"/>
            <a:ext cx="5857240" cy="196810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8" name="מחבר ישר 7">
            <a:extLst>
              <a:ext uri="{FF2B5EF4-FFF2-40B4-BE49-F238E27FC236}">
                <a16:creationId xmlns:a16="http://schemas.microsoft.com/office/drawing/2014/main" id="{E88A2AAA-16E0-561D-83C3-10349C41AFDE}"/>
              </a:ext>
            </a:extLst>
          </p:cNvPr>
          <p:cNvCxnSpPr>
            <a:cxnSpLocks/>
          </p:cNvCxnSpPr>
          <p:nvPr/>
        </p:nvCxnSpPr>
        <p:spPr>
          <a:xfrm>
            <a:off x="772820" y="3625030"/>
            <a:ext cx="3799180" cy="13222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מחבר ישר 8">
            <a:extLst>
              <a:ext uri="{FF2B5EF4-FFF2-40B4-BE49-F238E27FC236}">
                <a16:creationId xmlns:a16="http://schemas.microsoft.com/office/drawing/2014/main" id="{4588BF10-12AA-EA94-49C7-0272FE7F3AD3}"/>
              </a:ext>
            </a:extLst>
          </p:cNvPr>
          <p:cNvCxnSpPr/>
          <p:nvPr/>
        </p:nvCxnSpPr>
        <p:spPr>
          <a:xfrm flipV="1">
            <a:off x="772820" y="3485599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מחבר ישר 10">
            <a:extLst>
              <a:ext uri="{FF2B5EF4-FFF2-40B4-BE49-F238E27FC236}">
                <a16:creationId xmlns:a16="http://schemas.microsoft.com/office/drawing/2014/main" id="{2299C882-3C5B-55CD-B5F5-F38943EAAAF2}"/>
              </a:ext>
            </a:extLst>
          </p:cNvPr>
          <p:cNvCxnSpPr>
            <a:cxnSpLocks/>
          </p:cNvCxnSpPr>
          <p:nvPr/>
        </p:nvCxnSpPr>
        <p:spPr>
          <a:xfrm>
            <a:off x="4572000" y="3631641"/>
            <a:ext cx="0" cy="307106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מחבר ישר 13">
            <a:extLst>
              <a:ext uri="{FF2B5EF4-FFF2-40B4-BE49-F238E27FC236}">
                <a16:creationId xmlns:a16="http://schemas.microsoft.com/office/drawing/2014/main" id="{55A9CEFC-7D85-7878-2794-268734CDF24B}"/>
              </a:ext>
            </a:extLst>
          </p:cNvPr>
          <p:cNvCxnSpPr>
            <a:cxnSpLocks/>
          </p:cNvCxnSpPr>
          <p:nvPr/>
        </p:nvCxnSpPr>
        <p:spPr>
          <a:xfrm>
            <a:off x="2054773" y="3250446"/>
            <a:ext cx="3654042" cy="13222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מחבר ישר 15">
            <a:extLst>
              <a:ext uri="{FF2B5EF4-FFF2-40B4-BE49-F238E27FC236}">
                <a16:creationId xmlns:a16="http://schemas.microsoft.com/office/drawing/2014/main" id="{52FFF8A3-A22D-65D2-D76B-5B860DF5DDAB}"/>
              </a:ext>
            </a:extLst>
          </p:cNvPr>
          <p:cNvCxnSpPr/>
          <p:nvPr/>
        </p:nvCxnSpPr>
        <p:spPr>
          <a:xfrm flipV="1">
            <a:off x="2054773" y="3111015"/>
            <a:ext cx="0" cy="139431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מחבר ישר 17">
            <a:extLst>
              <a:ext uri="{FF2B5EF4-FFF2-40B4-BE49-F238E27FC236}">
                <a16:creationId xmlns:a16="http://schemas.microsoft.com/office/drawing/2014/main" id="{AF5B85CF-9B12-4B0C-A8EB-F957D3AA2533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7373783" y="3705730"/>
            <a:ext cx="0" cy="156779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מחבר ישר 18">
            <a:extLst>
              <a:ext uri="{FF2B5EF4-FFF2-40B4-BE49-F238E27FC236}">
                <a16:creationId xmlns:a16="http://schemas.microsoft.com/office/drawing/2014/main" id="{91ECD984-176E-E319-40F0-CEB6807E599A}"/>
              </a:ext>
            </a:extLst>
          </p:cNvPr>
          <p:cNvCxnSpPr>
            <a:cxnSpLocks/>
          </p:cNvCxnSpPr>
          <p:nvPr/>
        </p:nvCxnSpPr>
        <p:spPr>
          <a:xfrm flipV="1">
            <a:off x="7968750" y="5241197"/>
            <a:ext cx="0" cy="563255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מחבר ישר 23">
            <a:extLst>
              <a:ext uri="{FF2B5EF4-FFF2-40B4-BE49-F238E27FC236}">
                <a16:creationId xmlns:a16="http://schemas.microsoft.com/office/drawing/2014/main" id="{07F7D2F0-DAFD-C1EC-F448-B3296D7B294D}"/>
              </a:ext>
            </a:extLst>
          </p:cNvPr>
          <p:cNvCxnSpPr>
            <a:cxnSpLocks/>
          </p:cNvCxnSpPr>
          <p:nvPr/>
        </p:nvCxnSpPr>
        <p:spPr>
          <a:xfrm>
            <a:off x="7373783" y="3862509"/>
            <a:ext cx="1564808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מחבר ישר 26">
            <a:extLst>
              <a:ext uri="{FF2B5EF4-FFF2-40B4-BE49-F238E27FC236}">
                <a16:creationId xmlns:a16="http://schemas.microsoft.com/office/drawing/2014/main" id="{9D19EAB8-8549-F0BE-1F8F-B3C8D3D53A56}"/>
              </a:ext>
            </a:extLst>
          </p:cNvPr>
          <p:cNvCxnSpPr>
            <a:cxnSpLocks/>
          </p:cNvCxnSpPr>
          <p:nvPr/>
        </p:nvCxnSpPr>
        <p:spPr>
          <a:xfrm>
            <a:off x="8938591" y="3862509"/>
            <a:ext cx="0" cy="1660315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מחבר ישר 29">
            <a:extLst>
              <a:ext uri="{FF2B5EF4-FFF2-40B4-BE49-F238E27FC236}">
                <a16:creationId xmlns:a16="http://schemas.microsoft.com/office/drawing/2014/main" id="{75F8D536-9A9D-3CF3-6BB9-8D8A5390AEE3}"/>
              </a:ext>
            </a:extLst>
          </p:cNvPr>
          <p:cNvCxnSpPr>
            <a:cxnSpLocks/>
          </p:cNvCxnSpPr>
          <p:nvPr/>
        </p:nvCxnSpPr>
        <p:spPr>
          <a:xfrm>
            <a:off x="7968750" y="5522824"/>
            <a:ext cx="969841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2" name="תיבת טקסט 31">
            <a:extLst>
              <a:ext uri="{FF2B5EF4-FFF2-40B4-BE49-F238E27FC236}">
                <a16:creationId xmlns:a16="http://schemas.microsoft.com/office/drawing/2014/main" id="{99627481-3843-3AF7-5C73-CDEB9B02E8E9}"/>
              </a:ext>
            </a:extLst>
          </p:cNvPr>
          <p:cNvSpPr txBox="1"/>
          <p:nvPr/>
        </p:nvSpPr>
        <p:spPr>
          <a:xfrm>
            <a:off x="6426467" y="4539618"/>
            <a:ext cx="1526380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marL="0" algn="l" defTabSz="457200" rtl="0" eaLnBrk="1" latinLnBrk="0" hangingPunct="1"/>
            <a:r>
              <a:rPr lang="en-US" sz="1100" dirty="0">
                <a:solidFill>
                  <a:srgbClr val="C00000"/>
                </a:solidFill>
              </a:rPr>
              <a:t>// </a:t>
            </a:r>
            <a:r>
              <a:rPr lang="en-US" sz="1100" dirty="0" err="1">
                <a:solidFill>
                  <a:srgbClr val="C00000"/>
                </a:solidFill>
              </a:rPr>
              <a:t>CoinBase</a:t>
            </a:r>
            <a:r>
              <a:rPr lang="en-US" sz="1100" dirty="0">
                <a:solidFill>
                  <a:srgbClr val="C00000"/>
                </a:solidFill>
              </a:rPr>
              <a:t> transaction</a:t>
            </a:r>
            <a:endParaRPr lang="he-IL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6714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B9D673-738B-3860-3884-F3AE8F92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7846-129F-9212-7AA0-23AEB511C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e-IL" sz="3600" b="1" dirty="0">
                <a:solidFill>
                  <a:srgbClr val="FFFFFF"/>
                </a:solidFill>
              </a:rPr>
              <a:t>הדפסת תוצרת המאזן של כל ארנק ופרטים סופיים</a:t>
            </a:r>
            <a:endParaRPr sz="3600" b="1" dirty="0">
              <a:solidFill>
                <a:srgbClr val="FFFFFF"/>
              </a:solidFill>
            </a:endParaRPr>
          </a:p>
        </p:txBody>
      </p:sp>
      <p:sp>
        <p:nvSpPr>
          <p:cNvPr id="12" name="תיבת טקסט 11">
            <a:extLst>
              <a:ext uri="{FF2B5EF4-FFF2-40B4-BE49-F238E27FC236}">
                <a16:creationId xmlns:a16="http://schemas.microsoft.com/office/drawing/2014/main" id="{3BB2DCA1-F117-683D-AB5E-8B0E4E3EB199}"/>
              </a:ext>
            </a:extLst>
          </p:cNvPr>
          <p:cNvSpPr txBox="1"/>
          <p:nvPr/>
        </p:nvSpPr>
        <p:spPr>
          <a:xfrm>
            <a:off x="265151" y="1532858"/>
            <a:ext cx="2428606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l" defTabSz="457200" rtl="0" eaLnBrk="1" latinLnBrk="0" hangingPunct="1"/>
            <a:r>
              <a:rPr lang="en-US" sz="1200" b="1" dirty="0">
                <a:solidFill>
                  <a:srgbClr val="FFFFFF"/>
                </a:solidFill>
              </a:rPr>
              <a:t>From Blockchain</a:t>
            </a:r>
            <a:endParaRPr lang="en" sz="1200" b="1" dirty="0">
              <a:solidFill>
                <a:srgbClr val="FFFFFF"/>
              </a:solidFill>
            </a:endParaRPr>
          </a:p>
        </p:txBody>
      </p:sp>
      <p:pic>
        <p:nvPicPr>
          <p:cNvPr id="34" name="תמונה 33">
            <a:extLst>
              <a:ext uri="{FF2B5EF4-FFF2-40B4-BE49-F238E27FC236}">
                <a16:creationId xmlns:a16="http://schemas.microsoft.com/office/drawing/2014/main" id="{BEBC90B4-5DD3-5EE8-BE81-8FCC6057B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37" y="1774703"/>
            <a:ext cx="5397500" cy="1066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68F11600-6F8F-74E3-ADF9-95BCFA201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137" y="3198568"/>
            <a:ext cx="4698469" cy="243977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44F0E862-137C-26A4-C19C-D2682F6FC7B0}"/>
              </a:ext>
            </a:extLst>
          </p:cNvPr>
          <p:cNvSpPr txBox="1"/>
          <p:nvPr/>
        </p:nvSpPr>
        <p:spPr>
          <a:xfrm>
            <a:off x="280765" y="2944848"/>
            <a:ext cx="5963516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200" b="1" dirty="0">
                <a:solidFill>
                  <a:srgbClr val="FFFFFF"/>
                </a:solidFill>
              </a:rPr>
              <a:t>From </a:t>
            </a:r>
            <a:r>
              <a:rPr lang="en" sz="1200" b="1" dirty="0">
                <a:solidFill>
                  <a:srgbClr val="FFFFFF"/>
                </a:solidFill>
              </a:rPr>
              <a:t>Ledger</a:t>
            </a:r>
            <a:r>
              <a:rPr lang="en-US" sz="1200" b="1" dirty="0">
                <a:solidFill>
                  <a:srgbClr val="FFFFFF"/>
                </a:solidFill>
              </a:rPr>
              <a:t> – </a:t>
            </a:r>
            <a:r>
              <a:rPr lang="he-IL" sz="1200" b="1" dirty="0">
                <a:solidFill>
                  <a:srgbClr val="FFFFFF"/>
                </a:solidFill>
              </a:rPr>
              <a:t>מדפיס את הפרטים על כל הרשת, כמה מטבעות נכרו נשרפו וכמה סה״כ </a:t>
            </a:r>
            <a:endParaRPr lang="en" sz="1200" b="1" dirty="0">
              <a:solidFill>
                <a:srgbClr val="FFFFFF"/>
              </a:solidFill>
            </a:endParaRP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219F9D5E-CB98-36F3-C06A-99B0327F5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37" y="5990234"/>
            <a:ext cx="2333620" cy="59312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ACD62A8D-D3BA-C789-0DC4-F1ADC6C7B701}"/>
              </a:ext>
            </a:extLst>
          </p:cNvPr>
          <p:cNvSpPr txBox="1"/>
          <p:nvPr/>
        </p:nvSpPr>
        <p:spPr>
          <a:xfrm>
            <a:off x="268409" y="5753561"/>
            <a:ext cx="3496283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200" b="1" dirty="0">
                <a:solidFill>
                  <a:srgbClr val="FFFFFF"/>
                </a:solidFill>
              </a:rPr>
              <a:t>From </a:t>
            </a:r>
            <a:r>
              <a:rPr lang="en" sz="1200" b="1" dirty="0" err="1">
                <a:solidFill>
                  <a:srgbClr val="FFFFFF"/>
                </a:solidFill>
              </a:rPr>
              <a:t>BalancesState</a:t>
            </a:r>
            <a:r>
              <a:rPr lang="en-US" sz="1200" b="1" dirty="0">
                <a:solidFill>
                  <a:srgbClr val="FFFFFF"/>
                </a:solidFill>
              </a:rPr>
              <a:t> – </a:t>
            </a:r>
            <a:r>
              <a:rPr lang="he-IL" sz="1200" b="1" dirty="0">
                <a:solidFill>
                  <a:srgbClr val="FFFFFF"/>
                </a:solidFill>
              </a:rPr>
              <a:t>מדפיס את המאזן של כל ארנק</a:t>
            </a:r>
            <a:endParaRPr lang="en" sz="12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344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1238</Words>
  <Application>Microsoft Macintosh PowerPoint</Application>
  <PresentationFormat>‫הצגה על המסך (4:3)</PresentationFormat>
  <Paragraphs>117</Paragraphs>
  <Slides>15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15</vt:i4>
      </vt:variant>
    </vt:vector>
  </HeadingPairs>
  <TitlesOfParts>
    <vt:vector size="19" baseType="lpstr">
      <vt:lpstr>Arial Unicode MS</vt:lpstr>
      <vt:lpstr>Arial</vt:lpstr>
      <vt:lpstr>Calibri</vt:lpstr>
      <vt:lpstr>Office Theme</vt:lpstr>
      <vt:lpstr>עבודת בית 1 – בלוקצ'יין נוסח סולנה</vt:lpstr>
      <vt:lpstr>שקף דרישות – מה מומש ומה לא</vt:lpstr>
      <vt:lpstr>הוראות התקנה והרצה</vt:lpstr>
      <vt:lpstr>דוגמא לפלט</vt:lpstr>
      <vt:lpstr>תמונת מצב – קבצי הפרויקט ותפקידם</vt:lpstr>
      <vt:lpstr>Block</vt:lpstr>
      <vt:lpstr>Bloom Filter</vt:lpstr>
      <vt:lpstr>Merkle Tree</vt:lpstr>
      <vt:lpstr>Blockchain – קבלת הוכחת טרנזקציה</vt:lpstr>
      <vt:lpstr>Blockchain – הדגמת הוכחת טרנזקציה</vt:lpstr>
      <vt:lpstr>Blockchain</vt:lpstr>
      <vt:lpstr>כרייה – יצירת מטבעות עמלות ושירפה</vt:lpstr>
      <vt:lpstr>כרייה – יצירת מטבעות עמלות ושירפה</vt:lpstr>
      <vt:lpstr>כרייה – יצירת מטבעות עמלות ושירפה</vt:lpstr>
      <vt:lpstr>הדפסת תוצרת המאזן של כל ארנק ופרטים סופיים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Ofir Krisple</cp:lastModifiedBy>
  <cp:revision>42</cp:revision>
  <dcterms:created xsi:type="dcterms:W3CDTF">2013-01-27T09:14:16Z</dcterms:created>
  <dcterms:modified xsi:type="dcterms:W3CDTF">2025-12-09T20:54:20Z</dcterms:modified>
  <cp:category/>
</cp:coreProperties>
</file>